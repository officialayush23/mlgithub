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57" r:id="rId4"/>
    <p:sldId id="258" r:id="rId5"/>
    <p:sldId id="262" r:id="rId6"/>
    <p:sldId id="259" r:id="rId7"/>
    <p:sldId id="260" r:id="rId8"/>
    <p:sldId id="261" r:id="rId9"/>
    <p:sldId id="263" r:id="rId10"/>
    <p:sldId id="264" r:id="rId11"/>
    <p:sldId id="265" r:id="rId12"/>
    <p:sldId id="266" r:id="rId13"/>
    <p:sldId id="267" r:id="rId14"/>
    <p:sldId id="268"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65B8F-093B-3CD7-6415-003DA872D9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DD957D-D77B-BCD4-FE4B-2383AAEF1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6B619A-EED9-0E07-302F-C4068177F6CF}"/>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FD7E63FF-7DCA-650A-1585-83409D5ED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87159-943C-8E57-D750-35997222A520}"/>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2276564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BAE4B-AC4C-7382-FB2E-FFA07780C9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F49AED-7A56-A8D5-C46F-A5FEE00598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E6A80-0F4B-DA9D-CA06-4C74C71AE60C}"/>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850CB0D6-CFA3-B47C-4E9E-E9BCCBF51E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824250-7885-7660-08C5-0BDE08B2BBD6}"/>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1506452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E494-3DCC-9045-A2CC-C9C0812A84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092ADFE-EEC2-0DFB-3986-70458F2C8C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55F26E-EF97-6B4D-ECB6-8FA4A0DEDEB7}"/>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E9FF4697-FCCC-CA9F-8A66-9734934C3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E57B29-6E37-7204-6538-2C5E7A06FB66}"/>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2945959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F92DC-9F80-F3C1-2215-1619935CAD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85E0CE-5D73-EAA0-6FAD-CA71C953E1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7163F8-73CA-11C8-2B3E-92E1921854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7CA468-CFD9-23CF-2FE2-4F80DD7D3159}"/>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6" name="Footer Placeholder 5">
            <a:extLst>
              <a:ext uri="{FF2B5EF4-FFF2-40B4-BE49-F238E27FC236}">
                <a16:creationId xmlns:a16="http://schemas.microsoft.com/office/drawing/2014/main" id="{999CFB5C-65FF-933F-EE95-9E5CECBACF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3AC777-2522-FF8E-E6CF-05307F523C6E}"/>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2830283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E31AD-92C0-AC86-6F52-3AE6B2286F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6EC58F-C97F-89D6-2EBF-4CE1AAF65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F6CBA4-3E41-2BD2-F7E0-C2ADE7D80F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CDF388-2E4A-F23E-B991-376237E848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B9114D-3CCF-779B-7146-9033B22CB0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44C905-D5CA-982E-FC45-0C511AE0F447}"/>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8" name="Footer Placeholder 7">
            <a:extLst>
              <a:ext uri="{FF2B5EF4-FFF2-40B4-BE49-F238E27FC236}">
                <a16:creationId xmlns:a16="http://schemas.microsoft.com/office/drawing/2014/main" id="{3E4F98E8-C8BD-28AB-B110-2E531DA4D2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714635-5685-89F5-B74D-31EA0CF40DC2}"/>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1411503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9567-2ED3-D8D0-D29E-D64FBA5A87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DD4075-A3F1-46E8-DC20-BFEE897C8F3D}"/>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4" name="Footer Placeholder 3">
            <a:extLst>
              <a:ext uri="{FF2B5EF4-FFF2-40B4-BE49-F238E27FC236}">
                <a16:creationId xmlns:a16="http://schemas.microsoft.com/office/drawing/2014/main" id="{C19A830A-5B26-54B7-8CB6-629DB145D3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8FF787-BD56-8E59-8F81-1AF08840A167}"/>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1729072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8B32AE-16F1-E79C-A244-8A17B2B1BDF8}"/>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3" name="Footer Placeholder 2">
            <a:extLst>
              <a:ext uri="{FF2B5EF4-FFF2-40B4-BE49-F238E27FC236}">
                <a16:creationId xmlns:a16="http://schemas.microsoft.com/office/drawing/2014/main" id="{8604F641-DCC0-BE1E-466D-FB71B183FC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662908D-76B4-80C4-6B6C-4B0CBC0484A5}"/>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422453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3820-3E49-EF81-ED67-741D264685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A58A87-C229-AEE7-0787-28BF49310E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5D7246-45A2-E151-7CBC-7D77A1A95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7924D3-4CF2-B905-576B-D5BEE4980699}"/>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6" name="Footer Placeholder 5">
            <a:extLst>
              <a:ext uri="{FF2B5EF4-FFF2-40B4-BE49-F238E27FC236}">
                <a16:creationId xmlns:a16="http://schemas.microsoft.com/office/drawing/2014/main" id="{543A5226-EF37-0AF7-A5B3-F561C4332B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36032D-263A-C149-6386-C1C266832BBA}"/>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49081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06F4D-4ED5-F298-D349-2D8B6445D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2BC632-C58A-A342-2139-B118C66B69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6B120E-CEDB-66D8-A2F5-DDF06836A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7F338B-A443-9FB2-69E1-987A14077181}"/>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6" name="Footer Placeholder 5">
            <a:extLst>
              <a:ext uri="{FF2B5EF4-FFF2-40B4-BE49-F238E27FC236}">
                <a16:creationId xmlns:a16="http://schemas.microsoft.com/office/drawing/2014/main" id="{E238C246-3621-D731-B7E4-62289A24F4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FDCE2D-27D4-F5B0-4E12-8F740CBA8F63}"/>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1712623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958D-AFBA-BAAB-6DEC-30C0B57356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CB1242-EACC-2AD4-F5C6-7CAF106718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9B4F51-92D7-0E14-8536-06BF075C16DF}"/>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1E21D765-D759-3115-C48A-2315B21247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E21F02-771C-2C6F-7C6E-3CD07235CDDC}"/>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21571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B4CA23-7CB7-4ED7-E276-068B83FF9F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8B67F6-9550-55AB-56EC-1E7F1F9332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70B202-329C-1FB2-BCC4-61BDC0EB3C1B}"/>
              </a:ext>
            </a:extLst>
          </p:cNvPr>
          <p:cNvSpPr>
            <a:spLocks noGrp="1"/>
          </p:cNvSpPr>
          <p:nvPr>
            <p:ph type="dt" sz="half" idx="10"/>
          </p:nvPr>
        </p:nvSpPr>
        <p:spPr/>
        <p:txBody>
          <a:body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2A775146-9571-0078-77DB-E97305FA02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0EFB39-6A0C-FACB-57BF-63A8B291E8D0}"/>
              </a:ext>
            </a:extLst>
          </p:cNvPr>
          <p:cNvSpPr>
            <a:spLocks noGrp="1"/>
          </p:cNvSpPr>
          <p:nvPr>
            <p:ph type="sldNum" sz="quarter" idx="12"/>
          </p:nvPr>
        </p:nvSpPr>
        <p:spPr/>
        <p:txBody>
          <a:bodyPr/>
          <a:lstStyle/>
          <a:p>
            <a:fld id="{15AD8147-4299-46AF-94FA-A7AF22754999}" type="slidenum">
              <a:rPr lang="en-IN" smtClean="0"/>
              <a:t>‹#›</a:t>
            </a:fld>
            <a:endParaRPr lang="en-IN"/>
          </a:p>
        </p:txBody>
      </p:sp>
    </p:spTree>
    <p:extLst>
      <p:ext uri="{BB962C8B-B14F-4D97-AF65-F5344CB8AC3E}">
        <p14:creationId xmlns:p14="http://schemas.microsoft.com/office/powerpoint/2010/main" val="2149623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6F135-DD32-F4CB-8212-21A91FE11C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17031A-2D45-BFFF-67C0-F5D14F896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33B080-EF79-8F18-B06E-22D207EA1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74415A-B9FD-4D69-842E-0F1203CEA7FF}" type="datetimeFigureOut">
              <a:rPr lang="en-IN" smtClean="0"/>
              <a:t>06-01-2026</a:t>
            </a:fld>
            <a:endParaRPr lang="en-IN"/>
          </a:p>
        </p:txBody>
      </p:sp>
      <p:sp>
        <p:nvSpPr>
          <p:cNvPr id="5" name="Footer Placeholder 4">
            <a:extLst>
              <a:ext uri="{FF2B5EF4-FFF2-40B4-BE49-F238E27FC236}">
                <a16:creationId xmlns:a16="http://schemas.microsoft.com/office/drawing/2014/main" id="{014FFC1D-3E4A-129B-2B49-FB05C0662A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6AF673-E83D-416C-F4DD-CEA0DA64D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AD8147-4299-46AF-94FA-A7AF22754999}" type="slidenum">
              <a:rPr lang="en-IN" smtClean="0"/>
              <a:t>‹#›</a:t>
            </a:fld>
            <a:endParaRPr lang="en-IN"/>
          </a:p>
        </p:txBody>
      </p:sp>
    </p:spTree>
    <p:extLst>
      <p:ext uri="{BB962C8B-B14F-4D97-AF65-F5344CB8AC3E}">
        <p14:creationId xmlns:p14="http://schemas.microsoft.com/office/powerpoint/2010/main" val="3202263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python-programming-language/" TargetMode="External"/><Relationship Id="rId2" Type="http://schemas.openxmlformats.org/officeDocument/2006/relationships/hyperlink" Target="https://www.geeksforgeeks.org/python-pandas-datafram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what-is-data-visualization-and-why-is-it-important/" TargetMode="External"/><Relationship Id="rId2" Type="http://schemas.openxmlformats.org/officeDocument/2006/relationships/hyperlink" Target="https://www.geeksforgeeks.org/getting-started-machine-learning/" TargetMode="External"/><Relationship Id="rId1" Type="http://schemas.openxmlformats.org/officeDocument/2006/relationships/slideLayout" Target="../slideLayouts/slideLayout2.xml"/><Relationship Id="rId4" Type="http://schemas.openxmlformats.org/officeDocument/2006/relationships/hyperlink" Target="https://www.geeksforgeeks.org/learning-model-building-scikit-learn-python-machine-learning-library/"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working-with-missing-data-in-panda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python-pandas-dataframe-replac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eeksforgeeks.org/slicing-indexing-manipulating-and-cleaning-pandas-datafram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C880-BC64-29C3-1AAE-6521D36559B8}"/>
              </a:ext>
            </a:extLst>
          </p:cNvPr>
          <p:cNvSpPr>
            <a:spLocks noGrp="1"/>
          </p:cNvSpPr>
          <p:nvPr>
            <p:ph type="title"/>
          </p:nvPr>
        </p:nvSpPr>
        <p:spPr/>
        <p:txBody>
          <a:bodyPr/>
          <a:lstStyle/>
          <a:p>
            <a:r>
              <a:rPr lang="en-IN" dirty="0"/>
              <a:t>Assignment 1</a:t>
            </a:r>
          </a:p>
        </p:txBody>
      </p:sp>
      <p:sp>
        <p:nvSpPr>
          <p:cNvPr id="3" name="Content Placeholder 2">
            <a:extLst>
              <a:ext uri="{FF2B5EF4-FFF2-40B4-BE49-F238E27FC236}">
                <a16:creationId xmlns:a16="http://schemas.microsoft.com/office/drawing/2014/main" id="{FE8E9E3D-056E-F180-CA15-1D09E7527D1D}"/>
              </a:ext>
            </a:extLst>
          </p:cNvPr>
          <p:cNvSpPr>
            <a:spLocks noGrp="1"/>
          </p:cNvSpPr>
          <p:nvPr>
            <p:ph idx="1"/>
          </p:nvPr>
        </p:nvSpPr>
        <p:spPr>
          <a:xfrm>
            <a:off x="838200" y="1490870"/>
            <a:ext cx="10515600" cy="4686093"/>
          </a:xfrm>
        </p:spPr>
        <p:txBody>
          <a:bodyPr>
            <a:normAutofit lnSpcReduction="10000"/>
          </a:bodyPr>
          <a:lstStyle/>
          <a:p>
            <a:pPr lvl="0"/>
            <a:r>
              <a:rPr lang="en-IN" dirty="0"/>
              <a:t>Perform the following operations using Python on suitable data sets:</a:t>
            </a:r>
          </a:p>
          <a:p>
            <a:pPr lvl="0"/>
            <a:r>
              <a:rPr lang="en-IN" dirty="0"/>
              <a:t>Read data from different formats (like csv, </a:t>
            </a:r>
            <a:r>
              <a:rPr lang="en-IN" dirty="0" err="1"/>
              <a:t>xls</a:t>
            </a:r>
            <a:r>
              <a:rPr lang="en-IN" dirty="0"/>
              <a:t>)</a:t>
            </a:r>
          </a:p>
          <a:p>
            <a:pPr lvl="0"/>
            <a:r>
              <a:rPr lang="en-IN" dirty="0"/>
              <a:t>Find Shape of Data</a:t>
            </a:r>
          </a:p>
          <a:p>
            <a:pPr lvl="0"/>
            <a:r>
              <a:rPr lang="en-IN" dirty="0"/>
              <a:t>Find Missing Values</a:t>
            </a:r>
          </a:p>
          <a:p>
            <a:pPr lvl="0"/>
            <a:r>
              <a:rPr lang="en-IN" dirty="0"/>
              <a:t>Find data type of each column</a:t>
            </a:r>
          </a:p>
          <a:p>
            <a:pPr lvl="0"/>
            <a:r>
              <a:rPr lang="en-IN" dirty="0"/>
              <a:t>Finding out Zero's</a:t>
            </a:r>
          </a:p>
          <a:p>
            <a:pPr lvl="0"/>
            <a:r>
              <a:rPr lang="en-IN" dirty="0"/>
              <a:t>Indexing and selecting data, sort data, </a:t>
            </a:r>
          </a:p>
          <a:p>
            <a:pPr lvl="0"/>
            <a:r>
              <a:rPr lang="en-IN" dirty="0"/>
              <a:t>Describe attributes of data, checking data types of each column, </a:t>
            </a:r>
          </a:p>
          <a:p>
            <a:pPr lvl="0"/>
            <a:r>
              <a:rPr lang="en-IN" dirty="0"/>
              <a:t>counting unique values of data, format of each column, converting variable data type (e.g. from long to short, vice versa)</a:t>
            </a:r>
          </a:p>
          <a:p>
            <a:endParaRPr lang="en-IN" dirty="0"/>
          </a:p>
        </p:txBody>
      </p:sp>
    </p:spTree>
    <p:extLst>
      <p:ext uri="{BB962C8B-B14F-4D97-AF65-F5344CB8AC3E}">
        <p14:creationId xmlns:p14="http://schemas.microsoft.com/office/powerpoint/2010/main" val="2441025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891D-DE62-1B63-99D9-FF45CCD632C3}"/>
              </a:ext>
            </a:extLst>
          </p:cNvPr>
          <p:cNvSpPr>
            <a:spLocks noGrp="1"/>
          </p:cNvSpPr>
          <p:nvPr>
            <p:ph type="title"/>
          </p:nvPr>
        </p:nvSpPr>
        <p:spPr/>
        <p:txBody>
          <a:bodyPr/>
          <a:lstStyle/>
          <a:p>
            <a:r>
              <a:rPr lang="en-IN" dirty="0"/>
              <a:t>Assignment 2</a:t>
            </a:r>
          </a:p>
        </p:txBody>
      </p:sp>
      <p:sp>
        <p:nvSpPr>
          <p:cNvPr id="3" name="Content Placeholder 2">
            <a:extLst>
              <a:ext uri="{FF2B5EF4-FFF2-40B4-BE49-F238E27FC236}">
                <a16:creationId xmlns:a16="http://schemas.microsoft.com/office/drawing/2014/main" id="{D752BB2A-E5EE-3CF7-697C-4B72BA90FAA2}"/>
              </a:ext>
            </a:extLst>
          </p:cNvPr>
          <p:cNvSpPr>
            <a:spLocks noGrp="1"/>
          </p:cNvSpPr>
          <p:nvPr>
            <p:ph idx="1"/>
          </p:nvPr>
        </p:nvSpPr>
        <p:spPr/>
        <p:txBody>
          <a:bodyPr/>
          <a:lstStyle/>
          <a:p>
            <a:pPr lvl="0"/>
            <a:r>
              <a:rPr lang="en-IN" dirty="0"/>
              <a:t>Perform the following operations using  Python on the data sets:</a:t>
            </a:r>
          </a:p>
          <a:p>
            <a:pPr lvl="0"/>
            <a:r>
              <a:rPr lang="en-IN" dirty="0"/>
              <a:t>Compute and display summary statistics for each feature available in the dataset. (e.g. minimum value, maximum value, mean, range, standard deviation, variance and percentiles</a:t>
            </a:r>
          </a:p>
          <a:p>
            <a:pPr lvl="0"/>
            <a:r>
              <a:rPr lang="en-IN" dirty="0"/>
              <a:t>Illustrate the feature distributions using histogram.</a:t>
            </a:r>
          </a:p>
          <a:p>
            <a:pPr lvl="0"/>
            <a:r>
              <a:rPr lang="en-IN" dirty="0"/>
              <a:t>Data cleaning, Data integration, Data transformation, Data model building (e.g. Classification) </a:t>
            </a:r>
          </a:p>
          <a:p>
            <a:endParaRPr lang="en-IN" dirty="0"/>
          </a:p>
        </p:txBody>
      </p:sp>
    </p:spTree>
    <p:extLst>
      <p:ext uri="{BB962C8B-B14F-4D97-AF65-F5344CB8AC3E}">
        <p14:creationId xmlns:p14="http://schemas.microsoft.com/office/powerpoint/2010/main" val="1296666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40FCBE-9F3B-6F56-8993-D17B95BE69D1}"/>
              </a:ext>
            </a:extLst>
          </p:cNvPr>
          <p:cNvSpPr>
            <a:spLocks noGrp="1"/>
          </p:cNvSpPr>
          <p:nvPr>
            <p:ph idx="1"/>
          </p:nvPr>
        </p:nvSpPr>
        <p:spPr>
          <a:xfrm>
            <a:off x="619539" y="337930"/>
            <a:ext cx="11665226" cy="5774635"/>
          </a:xfrm>
        </p:spPr>
        <p:txBody>
          <a:bodyPr>
            <a:normAutofit fontScale="92500" lnSpcReduction="20000"/>
          </a:bodyPr>
          <a:lstStyle/>
          <a:p>
            <a:pPr marL="0" indent="0">
              <a:buNone/>
            </a:pPr>
            <a:endParaRPr lang="en-US" sz="2800" dirty="0"/>
          </a:p>
          <a:p>
            <a:r>
              <a:rPr lang="en-US" sz="2800" dirty="0"/>
              <a:t>2. Data Wrangling, IN Perform the following operations using Python on any open source dataset (e.g., data.csv) </a:t>
            </a:r>
          </a:p>
          <a:p>
            <a:pPr marL="0" indent="0">
              <a:buNone/>
            </a:pPr>
            <a:r>
              <a:rPr lang="en-US" sz="2800" dirty="0"/>
              <a:t>       a. </a:t>
            </a:r>
            <a:r>
              <a:rPr lang="en-US" sz="2800" b="1" dirty="0"/>
              <a:t>Import</a:t>
            </a:r>
            <a:r>
              <a:rPr lang="en-US" sz="2800" dirty="0"/>
              <a:t> all the required Python Libraries. </a:t>
            </a:r>
          </a:p>
          <a:p>
            <a:pPr marL="0" indent="0">
              <a:buNone/>
            </a:pPr>
            <a:r>
              <a:rPr lang="en-US" sz="2800" dirty="0"/>
              <a:t>       b. Locate </a:t>
            </a:r>
            <a:r>
              <a:rPr lang="en-US" sz="2800" b="1" dirty="0"/>
              <a:t>open-source data </a:t>
            </a:r>
            <a:r>
              <a:rPr lang="en-US" sz="2800" dirty="0"/>
              <a:t>from the web (</a:t>
            </a:r>
            <a:r>
              <a:rPr lang="en-US" sz="2800" dirty="0" err="1"/>
              <a:t>e.g.,https</a:t>
            </a:r>
            <a:r>
              <a:rPr lang="en-US" sz="2800" dirty="0"/>
              <a:t>://www.kaggle.com). Provide a clear description of the data and its source (i.e., URL of the web site). </a:t>
            </a:r>
          </a:p>
          <a:p>
            <a:pPr marL="0" indent="0">
              <a:buNone/>
            </a:pPr>
            <a:r>
              <a:rPr lang="en-US" sz="2800" dirty="0"/>
              <a:t>       c. </a:t>
            </a:r>
            <a:r>
              <a:rPr lang="en-US" sz="2800" b="1" dirty="0"/>
              <a:t>Load the Dataset </a:t>
            </a:r>
            <a:r>
              <a:rPr lang="en-US" sz="2800" dirty="0"/>
              <a:t>into pandas data frame. </a:t>
            </a:r>
          </a:p>
          <a:p>
            <a:pPr marL="0" indent="0">
              <a:buNone/>
            </a:pPr>
            <a:r>
              <a:rPr lang="en-US" sz="2800" dirty="0"/>
              <a:t>       d. </a:t>
            </a:r>
            <a:r>
              <a:rPr lang="en-US" sz="2800" b="1" dirty="0"/>
              <a:t>Data Preprocessing</a:t>
            </a:r>
            <a:r>
              <a:rPr lang="en-US" sz="2800" dirty="0"/>
              <a:t>: check for missing values in the data using pandas </a:t>
            </a:r>
            <a:r>
              <a:rPr lang="en-US" sz="2800" dirty="0" err="1"/>
              <a:t>isnull</a:t>
            </a:r>
            <a:r>
              <a:rPr lang="en-US" sz="2800" dirty="0"/>
              <a:t>(), describe() function to get some initial statistics. Provide variable descriptions. Types of variables etc. Check the dimensions of the data frame. </a:t>
            </a:r>
          </a:p>
          <a:p>
            <a:pPr marL="0" indent="0">
              <a:buNone/>
            </a:pPr>
            <a:r>
              <a:rPr lang="en-US" sz="2800" dirty="0"/>
              <a:t>      e. </a:t>
            </a:r>
            <a:r>
              <a:rPr lang="en-US" sz="2800" b="1" dirty="0"/>
              <a:t>Data Formatting and Data Normalization</a:t>
            </a:r>
            <a:r>
              <a:rPr lang="en-US" sz="2800" dirty="0"/>
              <a:t>: Summarize the types of variables by checking the data types (i.e., character, numeric, integer, factor, and logical) of the variables in the data set. If variables are not in the correct data type, apply proper type conversions.</a:t>
            </a:r>
          </a:p>
          <a:p>
            <a:pPr marL="0" indent="0">
              <a:buNone/>
            </a:pPr>
            <a:r>
              <a:rPr lang="en-US" sz="2800" dirty="0"/>
              <a:t>      f. Turn categorical variables into quantitative variables in Python. </a:t>
            </a:r>
          </a:p>
          <a:p>
            <a:pPr marL="0" indent="0">
              <a:buNone/>
            </a:pPr>
            <a:r>
              <a:rPr lang="en-US" sz="2800" dirty="0"/>
              <a:t>       Practical based on Data Loading, Storage and File Formats</a:t>
            </a:r>
            <a:endParaRPr lang="en-IN" sz="2800" dirty="0"/>
          </a:p>
          <a:p>
            <a:endParaRPr lang="en-IN" dirty="0"/>
          </a:p>
        </p:txBody>
      </p:sp>
    </p:spTree>
    <p:extLst>
      <p:ext uri="{BB962C8B-B14F-4D97-AF65-F5344CB8AC3E}">
        <p14:creationId xmlns:p14="http://schemas.microsoft.com/office/powerpoint/2010/main" val="2375043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A841-C46D-C427-6E66-63C30A06EA1B}"/>
              </a:ext>
            </a:extLst>
          </p:cNvPr>
          <p:cNvSpPr>
            <a:spLocks noGrp="1"/>
          </p:cNvSpPr>
          <p:nvPr>
            <p:ph type="title"/>
          </p:nvPr>
        </p:nvSpPr>
        <p:spPr/>
        <p:txBody>
          <a:bodyPr/>
          <a:lstStyle/>
          <a:p>
            <a:r>
              <a:rPr lang="en-US" b="0" i="0" dirty="0">
                <a:solidFill>
                  <a:srgbClr val="273239"/>
                </a:solidFill>
                <a:effectLst/>
                <a:latin typeface="Nunito" pitchFamily="2" charset="0"/>
              </a:rPr>
              <a:t>Data Wrangling</a:t>
            </a:r>
            <a:endParaRPr lang="en-IN" dirty="0"/>
          </a:p>
        </p:txBody>
      </p:sp>
      <p:sp>
        <p:nvSpPr>
          <p:cNvPr id="3" name="Content Placeholder 2">
            <a:extLst>
              <a:ext uri="{FF2B5EF4-FFF2-40B4-BE49-F238E27FC236}">
                <a16:creationId xmlns:a16="http://schemas.microsoft.com/office/drawing/2014/main" id="{4CDDA74F-8A8C-8188-43DC-66C654494277}"/>
              </a:ext>
            </a:extLst>
          </p:cNvPr>
          <p:cNvSpPr>
            <a:spLocks noGrp="1"/>
          </p:cNvSpPr>
          <p:nvPr>
            <p:ph idx="1"/>
          </p:nvPr>
        </p:nvSpPr>
        <p:spPr/>
        <p:txBody>
          <a:bodyPr/>
          <a:lstStyle/>
          <a:p>
            <a:pPr algn="just"/>
            <a:r>
              <a:rPr lang="en-US" b="0" i="0" dirty="0">
                <a:solidFill>
                  <a:srgbClr val="273239"/>
                </a:solidFill>
                <a:effectLst/>
                <a:latin typeface="Nunito" pitchFamily="2" charset="0"/>
              </a:rPr>
              <a:t>Data Wrangling is the process of gathering, collecting, and transforming Raw data into another format for better understanding, decision-making, accessing, and analysis in less time. Data Wrangling is also known as Data Munging.</a:t>
            </a:r>
          </a:p>
          <a:p>
            <a:pPr algn="just"/>
            <a:endParaRPr lang="en-IN" dirty="0"/>
          </a:p>
        </p:txBody>
      </p:sp>
    </p:spTree>
    <p:extLst>
      <p:ext uri="{BB962C8B-B14F-4D97-AF65-F5344CB8AC3E}">
        <p14:creationId xmlns:p14="http://schemas.microsoft.com/office/powerpoint/2010/main" val="356569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B9839-12F9-90D7-8956-065DAF92AF81}"/>
              </a:ext>
            </a:extLst>
          </p:cNvPr>
          <p:cNvSpPr>
            <a:spLocks noGrp="1"/>
          </p:cNvSpPr>
          <p:nvPr>
            <p:ph type="title"/>
          </p:nvPr>
        </p:nvSpPr>
        <p:spPr/>
        <p:txBody>
          <a:bodyPr/>
          <a:lstStyle/>
          <a:p>
            <a:r>
              <a:rPr lang="en-IN" b="1" i="0" dirty="0">
                <a:solidFill>
                  <a:srgbClr val="273239"/>
                </a:solidFill>
                <a:effectLst/>
                <a:latin typeface="Nunito" pitchFamily="2" charset="0"/>
              </a:rPr>
              <a:t>Importance Of Data Wrangling</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384C09CC-ACA7-1FFC-1DEE-402895D3F980}"/>
              </a:ext>
            </a:extLst>
          </p:cNvPr>
          <p:cNvSpPr>
            <a:spLocks noGrp="1"/>
          </p:cNvSpPr>
          <p:nvPr>
            <p:ph idx="1"/>
          </p:nvPr>
        </p:nvSpPr>
        <p:spPr/>
        <p:txBody>
          <a:bodyPr>
            <a:normAutofit fontScale="92500" lnSpcReduction="10000"/>
          </a:bodyPr>
          <a:lstStyle/>
          <a:p>
            <a:pPr algn="just" fontAlgn="base"/>
            <a:r>
              <a:rPr lang="en-US" b="0" i="0" dirty="0">
                <a:solidFill>
                  <a:srgbClr val="273239"/>
                </a:solidFill>
                <a:effectLst/>
                <a:latin typeface="Nunito" pitchFamily="2" charset="0"/>
              </a:rPr>
              <a:t>Books selling Website want to show top-selling books of different domains, according to user preference. For example, if a new user searches for motivational books, then they want to show those motivational books which sell the most or have a high rating, etc. </a:t>
            </a:r>
          </a:p>
          <a:p>
            <a:pPr algn="just" fontAlgn="base"/>
            <a:r>
              <a:rPr lang="en-US" b="0" i="0" dirty="0">
                <a:solidFill>
                  <a:srgbClr val="273239"/>
                </a:solidFill>
                <a:effectLst/>
                <a:latin typeface="Nunito" pitchFamily="2" charset="0"/>
              </a:rPr>
              <a:t>But on their website, there are plenty of raw data from different users. Here the concept of Data Munging or Data Wrangling is used. As we know Data wrangling is not by the System itself. This process is done by Data Scientists. So, the data Scientist will wrangle data in such a way that they will sort the motivational books that are sold more or have high ratings or user buy this book with these package of Books, etc. On the basis of that, the new user will make a choice. This will explain the importance of Data wrangling.</a:t>
            </a:r>
          </a:p>
          <a:p>
            <a:endParaRPr lang="en-IN" dirty="0"/>
          </a:p>
        </p:txBody>
      </p:sp>
    </p:spTree>
    <p:extLst>
      <p:ext uri="{BB962C8B-B14F-4D97-AF65-F5344CB8AC3E}">
        <p14:creationId xmlns:p14="http://schemas.microsoft.com/office/powerpoint/2010/main" val="947208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86365-87AF-A4C7-6D2E-3948DC1FF492}"/>
              </a:ext>
            </a:extLst>
          </p:cNvPr>
          <p:cNvSpPr>
            <a:spLocks noGrp="1"/>
          </p:cNvSpPr>
          <p:nvPr>
            <p:ph type="title"/>
          </p:nvPr>
        </p:nvSpPr>
        <p:spPr/>
        <p:txBody>
          <a:bodyPr/>
          <a:lstStyle/>
          <a:p>
            <a:r>
              <a:rPr lang="en-US" b="1" i="0" dirty="0">
                <a:solidFill>
                  <a:srgbClr val="273239"/>
                </a:solidFill>
                <a:effectLst/>
                <a:latin typeface="Nunito" pitchFamily="2" charset="0"/>
              </a:rPr>
              <a:t>Data Wrangling in Python</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394C2CE7-C1ED-E058-722E-356A8FFA415E}"/>
              </a:ext>
            </a:extLst>
          </p:cNvPr>
          <p:cNvSpPr>
            <a:spLocks noGrp="1"/>
          </p:cNvSpPr>
          <p:nvPr>
            <p:ph idx="1"/>
          </p:nvPr>
        </p:nvSpPr>
        <p:spPr/>
        <p:txBody>
          <a:bodyPr/>
          <a:lstStyle/>
          <a:p>
            <a:pPr algn="l" fontAlgn="base"/>
            <a:r>
              <a:rPr lang="en-US" b="0" i="0" dirty="0">
                <a:solidFill>
                  <a:srgbClr val="273239"/>
                </a:solidFill>
                <a:effectLst/>
                <a:latin typeface="Nunito" pitchFamily="2" charset="0"/>
              </a:rPr>
              <a:t>Data Wrangling is a crucial topic for Data Science and Data Analysis. Pandas Framework of Python is used for Data Wrangling. </a:t>
            </a:r>
            <a:r>
              <a:rPr lang="en-US" b="0" i="0" u="sng" dirty="0">
                <a:solidFill>
                  <a:srgbClr val="273239"/>
                </a:solidFill>
                <a:effectLst/>
                <a:latin typeface="Nunito" pitchFamily="2" charset="0"/>
                <a:hlinkClick r:id="rId2"/>
              </a:rPr>
              <a:t>Pandas</a:t>
            </a:r>
            <a:r>
              <a:rPr lang="en-US" b="0" i="0" dirty="0">
                <a:solidFill>
                  <a:srgbClr val="273239"/>
                </a:solidFill>
                <a:effectLst/>
                <a:latin typeface="Nunito" pitchFamily="2" charset="0"/>
              </a:rPr>
              <a:t> is an open-source library in </a:t>
            </a:r>
            <a:r>
              <a:rPr lang="en-US" b="0" i="0" u="sng" dirty="0">
                <a:solidFill>
                  <a:srgbClr val="273239"/>
                </a:solidFill>
                <a:effectLst/>
                <a:latin typeface="Nunito" pitchFamily="2" charset="0"/>
                <a:hlinkClick r:id="rId3"/>
              </a:rPr>
              <a:t>Python</a:t>
            </a:r>
            <a:r>
              <a:rPr lang="en-US" b="0" i="0" dirty="0">
                <a:solidFill>
                  <a:srgbClr val="273239"/>
                </a:solidFill>
                <a:effectLst/>
                <a:latin typeface="Nunito" pitchFamily="2" charset="0"/>
              </a:rPr>
              <a:t> specifically developed for Data Analysis and Data Science. It is used for processes like data sorting or filtration, Data grouping, </a:t>
            </a:r>
            <a:r>
              <a:rPr lang="en-US" b="0" i="0" dirty="0" err="1">
                <a:solidFill>
                  <a:srgbClr val="273239"/>
                </a:solidFill>
                <a:effectLst/>
                <a:latin typeface="Nunito" pitchFamily="2" charset="0"/>
              </a:rPr>
              <a:t>etc</a:t>
            </a: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651337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596F-2067-FFD9-6D50-B5C2C18DC193}"/>
              </a:ext>
            </a:extLst>
          </p:cNvPr>
          <p:cNvSpPr>
            <a:spLocks noGrp="1"/>
          </p:cNvSpPr>
          <p:nvPr>
            <p:ph type="title"/>
          </p:nvPr>
        </p:nvSpPr>
        <p:spPr/>
        <p:txBody>
          <a:bodyPr>
            <a:normAutofit fontScale="90000"/>
          </a:bodyPr>
          <a:lstStyle/>
          <a:p>
            <a:r>
              <a:rPr lang="en-US" sz="3600" b="0" i="0" dirty="0">
                <a:solidFill>
                  <a:srgbClr val="273239"/>
                </a:solidFill>
                <a:effectLst/>
                <a:latin typeface="Nunito" pitchFamily="2" charset="0"/>
              </a:rPr>
              <a:t>Data wrangling in Python deals with the below functionalities:</a:t>
            </a:r>
            <a:br>
              <a:rPr lang="en-US" b="0"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72807FFE-D8D4-75CC-488F-AA3C9AFD9084}"/>
              </a:ext>
            </a:extLst>
          </p:cNvPr>
          <p:cNvSpPr>
            <a:spLocks noGrp="1"/>
          </p:cNvSpPr>
          <p:nvPr>
            <p:ph idx="1"/>
          </p:nvPr>
        </p:nvSpPr>
        <p:spPr/>
        <p:txBody>
          <a:bodyPr>
            <a:normAutofit fontScale="77500" lnSpcReduction="20000"/>
          </a:bodyPr>
          <a:lstStyle/>
          <a:p>
            <a:pPr algn="l" fontAlgn="base">
              <a:buFont typeface="+mj-lt"/>
              <a:buAutoNum type="arabicPeriod"/>
            </a:pPr>
            <a:r>
              <a:rPr lang="en-US" b="1" i="0" dirty="0">
                <a:solidFill>
                  <a:srgbClr val="273239"/>
                </a:solidFill>
                <a:effectLst/>
                <a:latin typeface="Nunito" pitchFamily="2" charset="0"/>
              </a:rPr>
              <a:t>Data exploration: </a:t>
            </a:r>
            <a:r>
              <a:rPr lang="en-US" b="0" i="0" dirty="0">
                <a:solidFill>
                  <a:srgbClr val="273239"/>
                </a:solidFill>
                <a:effectLst/>
                <a:latin typeface="Nunito" pitchFamily="2" charset="0"/>
              </a:rPr>
              <a:t>In this process, the data is studied, analyzed, and understood by visualizing representations of data.</a:t>
            </a:r>
          </a:p>
          <a:p>
            <a:pPr algn="l" fontAlgn="base">
              <a:buFont typeface="+mj-lt"/>
              <a:buAutoNum type="arabicPeriod"/>
            </a:pPr>
            <a:r>
              <a:rPr lang="en-US" b="1" i="0" dirty="0">
                <a:solidFill>
                  <a:srgbClr val="273239"/>
                </a:solidFill>
                <a:effectLst/>
                <a:latin typeface="Nunito" pitchFamily="2" charset="0"/>
              </a:rPr>
              <a:t>Dealing with missing values: </a:t>
            </a:r>
            <a:r>
              <a:rPr lang="en-US" b="0" i="0" dirty="0">
                <a:solidFill>
                  <a:srgbClr val="273239"/>
                </a:solidFill>
                <a:effectLst/>
                <a:latin typeface="Nunito" pitchFamily="2" charset="0"/>
              </a:rPr>
              <a:t>Most of the datasets having a vast amount of data contain missing values of </a:t>
            </a:r>
            <a:r>
              <a:rPr lang="en-US" b="0" i="1" dirty="0" err="1">
                <a:solidFill>
                  <a:srgbClr val="273239"/>
                </a:solidFill>
                <a:effectLst/>
                <a:latin typeface="Nunito" pitchFamily="2" charset="0"/>
              </a:rPr>
              <a:t>NaN</a:t>
            </a:r>
            <a:r>
              <a:rPr lang="en-US" b="0" i="1" dirty="0">
                <a:solidFill>
                  <a:srgbClr val="273239"/>
                </a:solidFill>
                <a:effectLst/>
                <a:latin typeface="Nunito" pitchFamily="2" charset="0"/>
              </a:rPr>
              <a:t>, they are needed to be taken </a:t>
            </a:r>
            <a:r>
              <a:rPr lang="en-US" b="0" i="0" dirty="0">
                <a:solidFill>
                  <a:srgbClr val="273239"/>
                </a:solidFill>
                <a:effectLst/>
                <a:latin typeface="Nunito" pitchFamily="2" charset="0"/>
              </a:rPr>
              <a:t>care</a:t>
            </a:r>
            <a:r>
              <a:rPr lang="en-US" b="0" i="1" dirty="0">
                <a:solidFill>
                  <a:srgbClr val="273239"/>
                </a:solidFill>
                <a:effectLst/>
                <a:latin typeface="Nunito" pitchFamily="2" charset="0"/>
              </a:rPr>
              <a:t> </a:t>
            </a:r>
            <a:r>
              <a:rPr lang="en-US" b="0" i="0" dirty="0">
                <a:solidFill>
                  <a:srgbClr val="273239"/>
                </a:solidFill>
                <a:effectLst/>
                <a:latin typeface="Nunito" pitchFamily="2" charset="0"/>
              </a:rPr>
              <a:t>of by replacing them with mean, mode, the most frequent value of the column, or simply by dropping the row having a </a:t>
            </a:r>
            <a:r>
              <a:rPr lang="en-US" b="0" i="1" dirty="0" err="1">
                <a:solidFill>
                  <a:srgbClr val="273239"/>
                </a:solidFill>
                <a:effectLst/>
                <a:latin typeface="Nunito" pitchFamily="2" charset="0"/>
              </a:rPr>
              <a:t>NaN</a:t>
            </a:r>
            <a:r>
              <a:rPr lang="en-US" b="0" i="1" dirty="0">
                <a:solidFill>
                  <a:srgbClr val="273239"/>
                </a:solidFill>
                <a:effectLst/>
                <a:latin typeface="Nunito" pitchFamily="2" charset="0"/>
              </a:rPr>
              <a:t> </a:t>
            </a:r>
            <a:r>
              <a:rPr lang="en-US" b="0" i="0" dirty="0">
                <a:solidFill>
                  <a:srgbClr val="273239"/>
                </a:solidFill>
                <a:effectLst/>
                <a:latin typeface="Nunito" pitchFamily="2" charset="0"/>
              </a:rPr>
              <a:t>value.</a:t>
            </a:r>
          </a:p>
          <a:p>
            <a:pPr algn="l" fontAlgn="base">
              <a:buFont typeface="+mj-lt"/>
              <a:buAutoNum type="arabicPeriod"/>
            </a:pPr>
            <a:r>
              <a:rPr lang="en-US" b="1" i="0" dirty="0">
                <a:solidFill>
                  <a:srgbClr val="273239"/>
                </a:solidFill>
                <a:effectLst/>
                <a:latin typeface="Nunito" pitchFamily="2" charset="0"/>
              </a:rPr>
              <a:t>Reshaping data: </a:t>
            </a:r>
            <a:r>
              <a:rPr lang="en-US" b="0" i="0" dirty="0">
                <a:solidFill>
                  <a:srgbClr val="273239"/>
                </a:solidFill>
                <a:effectLst/>
                <a:latin typeface="Nunito" pitchFamily="2" charset="0"/>
              </a:rPr>
              <a:t>In this process, data is manipulated according to the requirements, where new data can be added or pre-existing data can be modified.</a:t>
            </a:r>
          </a:p>
          <a:p>
            <a:pPr algn="l" fontAlgn="base">
              <a:buFont typeface="+mj-lt"/>
              <a:buAutoNum type="arabicPeriod"/>
            </a:pPr>
            <a:r>
              <a:rPr lang="en-US" b="1" i="0" dirty="0">
                <a:solidFill>
                  <a:srgbClr val="273239"/>
                </a:solidFill>
                <a:effectLst/>
                <a:latin typeface="Nunito" pitchFamily="2" charset="0"/>
              </a:rPr>
              <a:t>Filtering data: </a:t>
            </a:r>
            <a:r>
              <a:rPr lang="en-US" b="0" i="0" dirty="0">
                <a:solidFill>
                  <a:srgbClr val="273239"/>
                </a:solidFill>
                <a:effectLst/>
                <a:latin typeface="Nunito" pitchFamily="2" charset="0"/>
              </a:rPr>
              <a:t>Some times datasets are comprised of unwanted rows or columns which are required to be removed or filtered</a:t>
            </a:r>
          </a:p>
          <a:p>
            <a:pPr algn="l" fontAlgn="base">
              <a:buFont typeface="+mj-lt"/>
              <a:buAutoNum type="arabicPeriod"/>
            </a:pPr>
            <a:r>
              <a:rPr lang="en-US" b="1" i="0" dirty="0">
                <a:solidFill>
                  <a:srgbClr val="273239"/>
                </a:solidFill>
                <a:effectLst/>
                <a:latin typeface="Nunito" pitchFamily="2" charset="0"/>
              </a:rPr>
              <a:t>Other:</a:t>
            </a:r>
            <a:r>
              <a:rPr lang="en-US" b="0" i="0" dirty="0">
                <a:solidFill>
                  <a:srgbClr val="273239"/>
                </a:solidFill>
                <a:effectLst/>
                <a:latin typeface="Nunito" pitchFamily="2" charset="0"/>
              </a:rPr>
              <a:t> After dealing with the raw dataset with the above functionalities we get an efficient dataset as per our requirements and then it can be used for a required purpose like data analyzing, </a:t>
            </a:r>
            <a:r>
              <a:rPr lang="en-US" b="0" i="0" u="sng" dirty="0">
                <a:solidFill>
                  <a:srgbClr val="273239"/>
                </a:solidFill>
                <a:effectLst/>
                <a:latin typeface="Nunito" pitchFamily="2" charset="0"/>
                <a:hlinkClick r:id="rId2"/>
              </a:rPr>
              <a:t>machine learning,</a:t>
            </a:r>
            <a:r>
              <a:rPr lang="en-US" b="0" i="0" dirty="0">
                <a:solidFill>
                  <a:srgbClr val="273239"/>
                </a:solidFill>
                <a:effectLst/>
                <a:latin typeface="Nunito" pitchFamily="2" charset="0"/>
              </a:rPr>
              <a:t> </a:t>
            </a:r>
            <a:r>
              <a:rPr lang="en-US" b="0" i="0" u="sng" dirty="0">
                <a:solidFill>
                  <a:srgbClr val="273239"/>
                </a:solidFill>
                <a:effectLst/>
                <a:latin typeface="Nunito" pitchFamily="2" charset="0"/>
                <a:hlinkClick r:id="rId3"/>
              </a:rPr>
              <a:t>data visualization</a:t>
            </a:r>
            <a:r>
              <a:rPr lang="en-US" b="0" i="0" dirty="0">
                <a:solidFill>
                  <a:srgbClr val="273239"/>
                </a:solidFill>
                <a:effectLst/>
                <a:latin typeface="Nunito" pitchFamily="2" charset="0"/>
              </a:rPr>
              <a:t>, </a:t>
            </a:r>
            <a:r>
              <a:rPr lang="en-US" b="0" i="0" u="sng" dirty="0">
                <a:solidFill>
                  <a:srgbClr val="273239"/>
                </a:solidFill>
                <a:effectLst/>
                <a:latin typeface="Nunito" pitchFamily="2" charset="0"/>
                <a:hlinkClick r:id="rId4"/>
              </a:rPr>
              <a:t>model training</a:t>
            </a:r>
            <a:r>
              <a:rPr lang="en-US" b="0" i="0" dirty="0">
                <a:solidFill>
                  <a:srgbClr val="273239"/>
                </a:solidFill>
                <a:effectLst/>
                <a:latin typeface="Nunito" pitchFamily="2" charset="0"/>
              </a:rPr>
              <a:t> etc.</a:t>
            </a:r>
          </a:p>
          <a:p>
            <a:endParaRPr lang="en-IN" dirty="0"/>
          </a:p>
        </p:txBody>
      </p:sp>
    </p:spTree>
    <p:extLst>
      <p:ext uri="{BB962C8B-B14F-4D97-AF65-F5344CB8AC3E}">
        <p14:creationId xmlns:p14="http://schemas.microsoft.com/office/powerpoint/2010/main" val="330324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A2289-CEF6-F6A7-019F-224B0B356CD0}"/>
              </a:ext>
            </a:extLst>
          </p:cNvPr>
          <p:cNvSpPr>
            <a:spLocks noGrp="1"/>
          </p:cNvSpPr>
          <p:nvPr>
            <p:ph type="title"/>
          </p:nvPr>
        </p:nvSpPr>
        <p:spPr/>
        <p:txBody>
          <a:bodyPr/>
          <a:lstStyle/>
          <a:p>
            <a:r>
              <a:rPr lang="en-IN" b="1" i="0" dirty="0">
                <a:solidFill>
                  <a:srgbClr val="273239"/>
                </a:solidFill>
                <a:effectLst/>
                <a:latin typeface="Nunito" pitchFamily="2" charset="0"/>
              </a:rPr>
              <a:t>Data exploration in Python</a:t>
            </a:r>
            <a:br>
              <a:rPr lang="en-IN"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F4E5CAA7-F4B8-8A10-E9A6-24404B2887FA}"/>
              </a:ext>
            </a:extLst>
          </p:cNvPr>
          <p:cNvSpPr>
            <a:spLocks noGrp="1"/>
          </p:cNvSpPr>
          <p:nvPr>
            <p:ph idx="1"/>
          </p:nvPr>
        </p:nvSpPr>
        <p:spPr/>
        <p:txBody>
          <a:bodyPr>
            <a:normAutofit fontScale="55000" lnSpcReduction="20000"/>
          </a:bodyPr>
          <a:lstStyle/>
          <a:p>
            <a:pPr marL="0" indent="0">
              <a:buNone/>
            </a:pPr>
            <a:r>
              <a:rPr lang="en-IN" dirty="0"/>
              <a:t># Import pandas package</a:t>
            </a:r>
          </a:p>
          <a:p>
            <a:pPr marL="0" indent="0">
              <a:buNone/>
            </a:pPr>
            <a:r>
              <a:rPr lang="en-IN" dirty="0"/>
              <a:t>import pandas as pd</a:t>
            </a:r>
          </a:p>
          <a:p>
            <a:pPr marL="0" indent="0">
              <a:buNone/>
            </a:pPr>
            <a:endParaRPr lang="en-IN" dirty="0"/>
          </a:p>
          <a:p>
            <a:pPr marL="0" indent="0">
              <a:buNone/>
            </a:pPr>
            <a:r>
              <a:rPr lang="en-IN" dirty="0"/>
              <a:t># Assign data</a:t>
            </a:r>
          </a:p>
          <a:p>
            <a:pPr marL="0" indent="0">
              <a:buNone/>
            </a:pPr>
            <a:r>
              <a:rPr lang="en-IN" dirty="0"/>
              <a:t>data = {'Name': ['Jai', '</a:t>
            </a:r>
            <a:r>
              <a:rPr lang="en-IN" dirty="0" err="1"/>
              <a:t>Princi</a:t>
            </a:r>
            <a:r>
              <a:rPr lang="en-IN" dirty="0"/>
              <a:t>', '</a:t>
            </a:r>
            <a:r>
              <a:rPr lang="en-IN" dirty="0" err="1"/>
              <a:t>Gaurav','Anuj</a:t>
            </a:r>
            <a:r>
              <a:rPr lang="en-IN" dirty="0"/>
              <a:t>', 'Ravi', 'Natasha', 'Riya'],</a:t>
            </a:r>
          </a:p>
          <a:p>
            <a:pPr marL="0" indent="0">
              <a:buNone/>
            </a:pPr>
            <a:r>
              <a:rPr lang="en-IN" dirty="0"/>
              <a:t>		'Age': [17, 17, 18, 17, 18, 17, 17],</a:t>
            </a:r>
          </a:p>
          <a:p>
            <a:pPr marL="0" indent="0">
              <a:buNone/>
            </a:pPr>
            <a:r>
              <a:rPr lang="en-IN" dirty="0"/>
              <a:t>		'Gender': ['M', 'F', 'M', 'M', 'M', 'F', 'F'],</a:t>
            </a:r>
          </a:p>
          <a:p>
            <a:pPr marL="0" indent="0">
              <a:buNone/>
            </a:pPr>
            <a:r>
              <a:rPr lang="en-IN" dirty="0"/>
              <a:t>		'Marks': [90, 76, '</a:t>
            </a:r>
            <a:r>
              <a:rPr lang="en-IN" dirty="0" err="1"/>
              <a:t>NaN</a:t>
            </a:r>
            <a:r>
              <a:rPr lang="en-IN" dirty="0"/>
              <a:t>', 74, 65, '</a:t>
            </a:r>
            <a:r>
              <a:rPr lang="en-IN" dirty="0" err="1"/>
              <a:t>NaN</a:t>
            </a:r>
            <a:r>
              <a:rPr lang="en-IN" dirty="0"/>
              <a:t>', 71]}</a:t>
            </a:r>
          </a:p>
          <a:p>
            <a:pPr marL="0" indent="0">
              <a:buNone/>
            </a:pPr>
            <a:endParaRPr lang="en-IN" dirty="0"/>
          </a:p>
          <a:p>
            <a:pPr marL="0" indent="0">
              <a:buNone/>
            </a:pPr>
            <a:r>
              <a:rPr lang="en-IN" dirty="0"/>
              <a:t># Convert into </a:t>
            </a:r>
            <a:r>
              <a:rPr lang="en-IN" dirty="0" err="1"/>
              <a:t>DataFrame</a:t>
            </a:r>
            <a:endParaRPr lang="en-IN" dirty="0"/>
          </a:p>
          <a:p>
            <a:pPr marL="0" indent="0">
              <a:buNone/>
            </a:pPr>
            <a:r>
              <a:rPr lang="en-IN" dirty="0" err="1"/>
              <a:t>df</a:t>
            </a:r>
            <a:r>
              <a:rPr lang="en-IN" dirty="0"/>
              <a:t> = </a:t>
            </a:r>
            <a:r>
              <a:rPr lang="en-IN" dirty="0" err="1"/>
              <a:t>pd.DataFrame</a:t>
            </a:r>
            <a:r>
              <a:rPr lang="en-IN" dirty="0"/>
              <a:t>(data)</a:t>
            </a:r>
          </a:p>
          <a:p>
            <a:pPr marL="0" indent="0">
              <a:buNone/>
            </a:pPr>
            <a:endParaRPr lang="en-IN" dirty="0"/>
          </a:p>
          <a:p>
            <a:pPr marL="0" indent="0">
              <a:buNone/>
            </a:pPr>
            <a:r>
              <a:rPr lang="en-IN" dirty="0"/>
              <a:t># Display data</a:t>
            </a:r>
          </a:p>
          <a:p>
            <a:pPr marL="0" indent="0">
              <a:buNone/>
            </a:pPr>
            <a:r>
              <a:rPr lang="en-IN" dirty="0" err="1"/>
              <a:t>df</a:t>
            </a:r>
            <a:endParaRPr lang="en-IN" dirty="0"/>
          </a:p>
          <a:p>
            <a:pPr marL="0" indent="0">
              <a:buNone/>
            </a:pPr>
            <a:endParaRPr lang="en-IN" dirty="0"/>
          </a:p>
        </p:txBody>
      </p:sp>
      <p:pic>
        <p:nvPicPr>
          <p:cNvPr id="4" name="Content Placeholder 3">
            <a:extLst>
              <a:ext uri="{FF2B5EF4-FFF2-40B4-BE49-F238E27FC236}">
                <a16:creationId xmlns:a16="http://schemas.microsoft.com/office/drawing/2014/main" id="{0294B90C-0881-F665-74F7-60EA19596CAA}"/>
              </a:ext>
            </a:extLst>
          </p:cNvPr>
          <p:cNvPicPr>
            <a:picLocks noChangeAspect="1"/>
          </p:cNvPicPr>
          <p:nvPr/>
        </p:nvPicPr>
        <p:blipFill>
          <a:blip r:embed="rId2"/>
          <a:stretch>
            <a:fillRect/>
          </a:stretch>
        </p:blipFill>
        <p:spPr>
          <a:xfrm>
            <a:off x="8652841" y="2168973"/>
            <a:ext cx="2857500" cy="2809875"/>
          </a:xfrm>
          <a:prstGeom prst="rect">
            <a:avLst/>
          </a:prstGeom>
        </p:spPr>
      </p:pic>
    </p:spTree>
    <p:extLst>
      <p:ext uri="{BB962C8B-B14F-4D97-AF65-F5344CB8AC3E}">
        <p14:creationId xmlns:p14="http://schemas.microsoft.com/office/powerpoint/2010/main" val="148828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CF9E5-D67D-CC94-1BEC-7214F468ED32}"/>
              </a:ext>
            </a:extLst>
          </p:cNvPr>
          <p:cNvSpPr>
            <a:spLocks noGrp="1"/>
          </p:cNvSpPr>
          <p:nvPr>
            <p:ph type="title"/>
          </p:nvPr>
        </p:nvSpPr>
        <p:spPr/>
        <p:txBody>
          <a:bodyPr/>
          <a:lstStyle/>
          <a:p>
            <a:r>
              <a:rPr lang="en-US" b="1" i="0" dirty="0">
                <a:solidFill>
                  <a:srgbClr val="273239"/>
                </a:solidFill>
                <a:effectLst/>
                <a:latin typeface="Nunito" pitchFamily="2" charset="0"/>
              </a:rPr>
              <a:t>Dealing with missing values in Python</a:t>
            </a:r>
            <a:br>
              <a:rPr lang="en-US" b="1" i="0" dirty="0">
                <a:solidFill>
                  <a:srgbClr val="273239"/>
                </a:solidFill>
                <a:effectLst/>
                <a:latin typeface="Nunito" pitchFamily="2" charset="0"/>
              </a:rPr>
            </a:br>
            <a:endParaRPr lang="en-IN" dirty="0"/>
          </a:p>
        </p:txBody>
      </p:sp>
      <p:sp>
        <p:nvSpPr>
          <p:cNvPr id="6" name="Content Placeholder 5">
            <a:extLst>
              <a:ext uri="{FF2B5EF4-FFF2-40B4-BE49-F238E27FC236}">
                <a16:creationId xmlns:a16="http://schemas.microsoft.com/office/drawing/2014/main" id="{A11B1278-FF0E-4314-0FD9-1FB952164F08}"/>
              </a:ext>
            </a:extLst>
          </p:cNvPr>
          <p:cNvSpPr>
            <a:spLocks noGrp="1"/>
          </p:cNvSpPr>
          <p:nvPr>
            <p:ph idx="1"/>
          </p:nvPr>
        </p:nvSpPr>
        <p:spPr/>
        <p:txBody>
          <a:bodyPr/>
          <a:lstStyle/>
          <a:p>
            <a:r>
              <a:rPr lang="en-US" b="0" i="0" dirty="0">
                <a:solidFill>
                  <a:srgbClr val="273239"/>
                </a:solidFill>
                <a:effectLst/>
                <a:latin typeface="Nunito" pitchFamily="2" charset="0"/>
              </a:rPr>
              <a:t>As we can see from the previous output, there are </a:t>
            </a:r>
            <a:r>
              <a:rPr lang="en-US" b="0" i="1" dirty="0" err="1">
                <a:solidFill>
                  <a:srgbClr val="273239"/>
                </a:solidFill>
                <a:effectLst/>
                <a:latin typeface="Nunito" pitchFamily="2" charset="0"/>
              </a:rPr>
              <a:t>NaN</a:t>
            </a:r>
            <a:r>
              <a:rPr lang="en-US" b="0" i="1" dirty="0">
                <a:solidFill>
                  <a:srgbClr val="273239"/>
                </a:solidFill>
                <a:effectLst/>
                <a:latin typeface="Nunito" pitchFamily="2" charset="0"/>
              </a:rPr>
              <a:t> </a:t>
            </a:r>
            <a:r>
              <a:rPr lang="en-US" b="0" i="0" dirty="0">
                <a:solidFill>
                  <a:srgbClr val="273239"/>
                </a:solidFill>
                <a:effectLst/>
                <a:latin typeface="Nunito" pitchFamily="2" charset="0"/>
              </a:rPr>
              <a:t>values present in the </a:t>
            </a:r>
            <a:r>
              <a:rPr lang="en-US" b="0" i="1" dirty="0">
                <a:solidFill>
                  <a:srgbClr val="273239"/>
                </a:solidFill>
                <a:effectLst/>
                <a:latin typeface="Nunito" pitchFamily="2" charset="0"/>
              </a:rPr>
              <a:t>MARKS </a:t>
            </a:r>
            <a:r>
              <a:rPr lang="en-US" b="0" i="0" dirty="0">
                <a:solidFill>
                  <a:srgbClr val="273239"/>
                </a:solidFill>
                <a:effectLst/>
                <a:latin typeface="Nunito" pitchFamily="2" charset="0"/>
              </a:rPr>
              <a:t>column which is a </a:t>
            </a:r>
            <a:r>
              <a:rPr lang="en-US" b="0" i="0" u="sng" dirty="0">
                <a:effectLst/>
                <a:latin typeface="Nunito" pitchFamily="2" charset="0"/>
                <a:hlinkClick r:id="rId2"/>
              </a:rPr>
              <a:t>missing value</a:t>
            </a:r>
            <a:r>
              <a:rPr lang="en-US" b="0" i="0" dirty="0">
                <a:solidFill>
                  <a:srgbClr val="273239"/>
                </a:solidFill>
                <a:effectLst/>
                <a:latin typeface="Nunito" pitchFamily="2" charset="0"/>
              </a:rPr>
              <a:t> in the </a:t>
            </a:r>
            <a:r>
              <a:rPr lang="en-US" b="0" i="0" dirty="0" err="1">
                <a:solidFill>
                  <a:srgbClr val="273239"/>
                </a:solidFill>
                <a:effectLst/>
                <a:latin typeface="Nunito" pitchFamily="2" charset="0"/>
              </a:rPr>
              <a:t>dataframe</a:t>
            </a:r>
            <a:r>
              <a:rPr lang="en-US" b="0" i="0" dirty="0">
                <a:solidFill>
                  <a:srgbClr val="273239"/>
                </a:solidFill>
                <a:effectLst/>
                <a:latin typeface="Nunito" pitchFamily="2" charset="0"/>
              </a:rPr>
              <a:t> that is going to be taken care of in data wrangling by replacing them with the column mean.</a:t>
            </a:r>
            <a:endParaRPr lang="en-IN" dirty="0"/>
          </a:p>
        </p:txBody>
      </p:sp>
    </p:spTree>
    <p:extLst>
      <p:ext uri="{BB962C8B-B14F-4D97-AF65-F5344CB8AC3E}">
        <p14:creationId xmlns:p14="http://schemas.microsoft.com/office/powerpoint/2010/main" val="135013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C11E-44B5-1A72-57DD-6D49E37C1E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90DBAA-48EB-425F-62E6-4F848CCA7C1F}"/>
              </a:ext>
            </a:extLst>
          </p:cNvPr>
          <p:cNvSpPr>
            <a:spLocks noGrp="1"/>
          </p:cNvSpPr>
          <p:nvPr>
            <p:ph idx="1"/>
          </p:nvPr>
        </p:nvSpPr>
        <p:spPr/>
        <p:txBody>
          <a:bodyPr>
            <a:normAutofit fontScale="85000" lnSpcReduction="20000"/>
          </a:bodyPr>
          <a:lstStyle/>
          <a:p>
            <a:r>
              <a:rPr lang="en-IN" dirty="0"/>
              <a:t># Compute average</a:t>
            </a:r>
          </a:p>
          <a:p>
            <a:r>
              <a:rPr lang="en-IN" dirty="0"/>
              <a:t>c = </a:t>
            </a:r>
            <a:r>
              <a:rPr lang="en-IN" dirty="0" err="1"/>
              <a:t>avg</a:t>
            </a:r>
            <a:r>
              <a:rPr lang="en-IN" dirty="0"/>
              <a:t> = 0</a:t>
            </a:r>
          </a:p>
          <a:p>
            <a:r>
              <a:rPr lang="en-IN" dirty="0"/>
              <a:t>for </a:t>
            </a:r>
            <a:r>
              <a:rPr lang="en-IN" dirty="0" err="1"/>
              <a:t>ele</a:t>
            </a:r>
            <a:r>
              <a:rPr lang="en-IN" dirty="0"/>
              <a:t> in </a:t>
            </a:r>
            <a:r>
              <a:rPr lang="en-IN" dirty="0" err="1"/>
              <a:t>df</a:t>
            </a:r>
            <a:r>
              <a:rPr lang="en-IN" dirty="0"/>
              <a:t>['Marks']:</a:t>
            </a:r>
          </a:p>
          <a:p>
            <a:r>
              <a:rPr lang="en-IN" dirty="0"/>
              <a:t>	if str(</a:t>
            </a:r>
            <a:r>
              <a:rPr lang="en-IN" dirty="0" err="1"/>
              <a:t>ele</a:t>
            </a:r>
            <a:r>
              <a:rPr lang="en-IN" dirty="0"/>
              <a:t>).</a:t>
            </a:r>
            <a:r>
              <a:rPr lang="en-IN" dirty="0" err="1"/>
              <a:t>isnumeric</a:t>
            </a:r>
            <a:r>
              <a:rPr lang="en-IN" dirty="0"/>
              <a:t>():</a:t>
            </a:r>
          </a:p>
          <a:p>
            <a:r>
              <a:rPr lang="en-IN" dirty="0"/>
              <a:t>		c += 1</a:t>
            </a:r>
          </a:p>
          <a:p>
            <a:r>
              <a:rPr lang="en-IN" dirty="0"/>
              <a:t>		</a:t>
            </a:r>
            <a:r>
              <a:rPr lang="en-IN" dirty="0" err="1"/>
              <a:t>avg</a:t>
            </a:r>
            <a:r>
              <a:rPr lang="en-IN" dirty="0"/>
              <a:t> += </a:t>
            </a:r>
            <a:r>
              <a:rPr lang="en-IN" dirty="0" err="1"/>
              <a:t>ele</a:t>
            </a:r>
            <a:endParaRPr lang="en-IN" dirty="0"/>
          </a:p>
          <a:p>
            <a:r>
              <a:rPr lang="en-IN" dirty="0" err="1"/>
              <a:t>avg</a:t>
            </a:r>
            <a:r>
              <a:rPr lang="en-IN" dirty="0"/>
              <a:t> /= c</a:t>
            </a:r>
          </a:p>
          <a:p>
            <a:r>
              <a:rPr lang="en-IN" dirty="0"/>
              <a:t># Replace missing values</a:t>
            </a:r>
          </a:p>
          <a:p>
            <a:r>
              <a:rPr lang="en-IN" dirty="0" err="1"/>
              <a:t>df</a:t>
            </a:r>
            <a:r>
              <a:rPr lang="en-IN" dirty="0"/>
              <a:t> = </a:t>
            </a:r>
            <a:r>
              <a:rPr lang="en-IN" dirty="0" err="1"/>
              <a:t>df.replace</a:t>
            </a:r>
            <a:r>
              <a:rPr lang="en-IN" dirty="0"/>
              <a:t>(</a:t>
            </a:r>
            <a:r>
              <a:rPr lang="en-IN" dirty="0" err="1"/>
              <a:t>to_replace</a:t>
            </a:r>
            <a:r>
              <a:rPr lang="en-IN" dirty="0"/>
              <a:t>="</a:t>
            </a:r>
            <a:r>
              <a:rPr lang="en-IN" dirty="0" err="1"/>
              <a:t>NaN</a:t>
            </a:r>
            <a:r>
              <a:rPr lang="en-IN" dirty="0"/>
              <a:t>",value=</a:t>
            </a:r>
            <a:r>
              <a:rPr lang="en-IN" dirty="0" err="1"/>
              <a:t>avg</a:t>
            </a:r>
            <a:r>
              <a:rPr lang="en-IN" dirty="0"/>
              <a:t>)</a:t>
            </a:r>
          </a:p>
          <a:p>
            <a:r>
              <a:rPr lang="en-IN" dirty="0"/>
              <a:t># Display data</a:t>
            </a:r>
          </a:p>
          <a:p>
            <a:r>
              <a:rPr lang="en-IN" dirty="0" err="1"/>
              <a:t>df</a:t>
            </a:r>
            <a:endParaRPr lang="en-IN" dirty="0"/>
          </a:p>
          <a:p>
            <a:endParaRPr lang="en-IN" dirty="0"/>
          </a:p>
        </p:txBody>
      </p:sp>
      <p:pic>
        <p:nvPicPr>
          <p:cNvPr id="4" name="Picture 2" descr="replacing Nan values with average">
            <a:extLst>
              <a:ext uri="{FF2B5EF4-FFF2-40B4-BE49-F238E27FC236}">
                <a16:creationId xmlns:a16="http://schemas.microsoft.com/office/drawing/2014/main" id="{0504A3C6-B9BB-0559-83B5-34603AE00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4485" y="1968776"/>
            <a:ext cx="28575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202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8226-9575-FABD-66C8-ACC0391F193B}"/>
              </a:ext>
            </a:extLst>
          </p:cNvPr>
          <p:cNvSpPr>
            <a:spLocks noGrp="1"/>
          </p:cNvSpPr>
          <p:nvPr>
            <p:ph type="title"/>
          </p:nvPr>
        </p:nvSpPr>
        <p:spPr/>
        <p:txBody>
          <a:bodyPr/>
          <a:lstStyle/>
          <a:p>
            <a:r>
              <a:rPr lang="en-US" b="1" i="0" dirty="0">
                <a:solidFill>
                  <a:srgbClr val="273239"/>
                </a:solidFill>
                <a:effectLst/>
                <a:latin typeface="Nunito" pitchFamily="2" charset="0"/>
              </a:rPr>
              <a:t>Data Replacing</a:t>
            </a:r>
            <a:r>
              <a:rPr lang="en-US" b="0" i="0" u="sng" dirty="0">
                <a:solidFill>
                  <a:srgbClr val="273239"/>
                </a:solidFill>
                <a:effectLst/>
                <a:latin typeface="Nunito" pitchFamily="2" charset="0"/>
                <a:hlinkClick r:id="rId2"/>
              </a:rPr>
              <a:t> </a:t>
            </a:r>
            <a:r>
              <a:rPr lang="en-US" b="1" i="0" dirty="0">
                <a:solidFill>
                  <a:srgbClr val="273239"/>
                </a:solidFill>
                <a:effectLst/>
                <a:latin typeface="Nunito" pitchFamily="2" charset="0"/>
              </a:rPr>
              <a:t>in Data Wrangling</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814DC898-E302-0EE3-4D53-832B2A6496D6}"/>
              </a:ext>
            </a:extLst>
          </p:cNvPr>
          <p:cNvSpPr>
            <a:spLocks noGrp="1"/>
          </p:cNvSpPr>
          <p:nvPr>
            <p:ph idx="1"/>
          </p:nvPr>
        </p:nvSpPr>
        <p:spPr/>
        <p:txBody>
          <a:bodyPr/>
          <a:lstStyle/>
          <a:p>
            <a:pPr algn="l" fontAlgn="base"/>
            <a:r>
              <a:rPr lang="en-US" dirty="0">
                <a:solidFill>
                  <a:srgbClr val="273239"/>
                </a:solidFill>
                <a:latin typeface="Nunito" pitchFamily="2" charset="0"/>
              </a:rPr>
              <a:t>I</a:t>
            </a:r>
            <a:r>
              <a:rPr lang="en-US" b="0" i="0" dirty="0">
                <a:solidFill>
                  <a:srgbClr val="273239"/>
                </a:solidFill>
                <a:effectLst/>
                <a:latin typeface="Nunito" pitchFamily="2" charset="0"/>
              </a:rPr>
              <a:t>n the </a:t>
            </a:r>
            <a:r>
              <a:rPr lang="en-US" b="0" i="1" dirty="0">
                <a:solidFill>
                  <a:srgbClr val="273239"/>
                </a:solidFill>
                <a:effectLst/>
                <a:latin typeface="Nunito" pitchFamily="2" charset="0"/>
              </a:rPr>
              <a:t>GENDER </a:t>
            </a:r>
            <a:r>
              <a:rPr lang="en-US" b="0" i="0" dirty="0">
                <a:solidFill>
                  <a:srgbClr val="273239"/>
                </a:solidFill>
                <a:effectLst/>
                <a:latin typeface="Nunito" pitchFamily="2" charset="0"/>
              </a:rPr>
              <a:t>column, we can</a:t>
            </a:r>
            <a:r>
              <a:rPr lang="en-US" b="0" i="0" u="sng" dirty="0">
                <a:solidFill>
                  <a:srgbClr val="273239"/>
                </a:solidFill>
                <a:effectLst/>
                <a:latin typeface="Nunito" pitchFamily="2" charset="0"/>
                <a:hlinkClick r:id="rId2"/>
              </a:rPr>
              <a:t> replace</a:t>
            </a:r>
            <a:r>
              <a:rPr lang="en-US" b="0" i="0" dirty="0">
                <a:solidFill>
                  <a:srgbClr val="273239"/>
                </a:solidFill>
                <a:effectLst/>
                <a:latin typeface="Nunito" pitchFamily="2" charset="0"/>
              </a:rPr>
              <a:t> the Gender column data by categorizing them into different numbers.</a:t>
            </a:r>
          </a:p>
          <a:p>
            <a:r>
              <a:rPr lang="en-IN" dirty="0"/>
              <a:t># Categorize gender</a:t>
            </a:r>
          </a:p>
          <a:p>
            <a:r>
              <a:rPr lang="en-IN" dirty="0" err="1"/>
              <a:t>df</a:t>
            </a:r>
            <a:r>
              <a:rPr lang="en-IN" dirty="0"/>
              <a:t>['Gender'] = </a:t>
            </a:r>
            <a:r>
              <a:rPr lang="en-IN" dirty="0" err="1"/>
              <a:t>df</a:t>
            </a:r>
            <a:r>
              <a:rPr lang="en-IN" dirty="0"/>
              <a:t>['Gender'].map({'M': 0,'F': 1, }).</a:t>
            </a:r>
            <a:r>
              <a:rPr lang="en-IN" dirty="0" err="1"/>
              <a:t>astype</a:t>
            </a:r>
            <a:r>
              <a:rPr lang="en-IN" dirty="0"/>
              <a:t>(float)</a:t>
            </a:r>
          </a:p>
          <a:p>
            <a:r>
              <a:rPr lang="en-IN" dirty="0"/>
              <a:t># Display data</a:t>
            </a:r>
          </a:p>
          <a:p>
            <a:r>
              <a:rPr lang="en-IN" dirty="0" err="1"/>
              <a:t>df</a:t>
            </a:r>
            <a:endParaRPr lang="en-IN" dirty="0"/>
          </a:p>
          <a:p>
            <a:endParaRPr lang="en-IN" dirty="0"/>
          </a:p>
        </p:txBody>
      </p:sp>
      <p:pic>
        <p:nvPicPr>
          <p:cNvPr id="4" name="Picture 2" descr="Data encoding for gender variable in data wrangling ">
            <a:extLst>
              <a:ext uri="{FF2B5EF4-FFF2-40B4-BE49-F238E27FC236}">
                <a16:creationId xmlns:a16="http://schemas.microsoft.com/office/drawing/2014/main" id="{58934F06-B4E9-4BAC-E800-56B7DEBBF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6920" y="3749675"/>
            <a:ext cx="28575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04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F9F6-5D80-85F2-D1CE-406136122019}"/>
              </a:ext>
            </a:extLst>
          </p:cNvPr>
          <p:cNvSpPr>
            <a:spLocks noGrp="1"/>
          </p:cNvSpPr>
          <p:nvPr>
            <p:ph type="title"/>
          </p:nvPr>
        </p:nvSpPr>
        <p:spPr/>
        <p:txBody>
          <a:bodyPr/>
          <a:lstStyle/>
          <a:p>
            <a:r>
              <a:rPr lang="en-US" b="1" i="0" dirty="0">
                <a:solidFill>
                  <a:srgbClr val="273239"/>
                </a:solidFill>
                <a:effectLst/>
                <a:latin typeface="Nunito" pitchFamily="2" charset="0"/>
              </a:rPr>
              <a:t>Filtering data in Data Wrangling</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8E4E437F-B819-6B5F-65AA-558691D4BEE6}"/>
              </a:ext>
            </a:extLst>
          </p:cNvPr>
          <p:cNvSpPr>
            <a:spLocks noGrp="1"/>
          </p:cNvSpPr>
          <p:nvPr>
            <p:ph idx="1"/>
          </p:nvPr>
        </p:nvSpPr>
        <p:spPr>
          <a:xfrm>
            <a:off x="838200" y="1825625"/>
            <a:ext cx="7113104" cy="4351338"/>
          </a:xfrm>
        </p:spPr>
        <p:txBody>
          <a:bodyPr>
            <a:normAutofit fontScale="92500" lnSpcReduction="20000"/>
          </a:bodyPr>
          <a:lstStyle/>
          <a:p>
            <a:pPr algn="l" fontAlgn="base"/>
            <a:r>
              <a:rPr lang="en-US" b="0" i="0" dirty="0">
                <a:solidFill>
                  <a:srgbClr val="273239"/>
                </a:solidFill>
                <a:effectLst/>
                <a:latin typeface="Nunito" pitchFamily="2" charset="0"/>
              </a:rPr>
              <a:t>suppose there is a requirement for the details regarding name, gender, and marks of the top-scoring students. Here we need to remove some using the </a:t>
            </a:r>
            <a:r>
              <a:rPr lang="en-US" b="0" i="0" u="sng" dirty="0">
                <a:solidFill>
                  <a:srgbClr val="273239"/>
                </a:solidFill>
                <a:effectLst/>
                <a:latin typeface="Nunito" pitchFamily="2" charset="0"/>
                <a:hlinkClick r:id="rId2"/>
              </a:rPr>
              <a:t>pandas slicing method</a:t>
            </a:r>
            <a:r>
              <a:rPr lang="en-US" b="0" i="0" dirty="0">
                <a:solidFill>
                  <a:srgbClr val="273239"/>
                </a:solidFill>
                <a:effectLst/>
                <a:latin typeface="Nunito" pitchFamily="2" charset="0"/>
              </a:rPr>
              <a:t> in data wrangling from unwanted data.</a:t>
            </a:r>
          </a:p>
          <a:p>
            <a:r>
              <a:rPr lang="en-IN" dirty="0"/>
              <a:t># Filter top scoring students</a:t>
            </a:r>
          </a:p>
          <a:p>
            <a:r>
              <a:rPr lang="en-IN" dirty="0" err="1"/>
              <a:t>df</a:t>
            </a:r>
            <a:r>
              <a:rPr lang="en-IN" dirty="0"/>
              <a:t> = </a:t>
            </a:r>
            <a:r>
              <a:rPr lang="en-IN" dirty="0" err="1"/>
              <a:t>df</a:t>
            </a:r>
            <a:r>
              <a:rPr lang="en-IN" dirty="0"/>
              <a:t>[</a:t>
            </a:r>
            <a:r>
              <a:rPr lang="en-IN" dirty="0" err="1"/>
              <a:t>df</a:t>
            </a:r>
            <a:r>
              <a:rPr lang="en-IN" dirty="0"/>
              <a:t>['Marks'] &gt;= 75].copy()</a:t>
            </a:r>
          </a:p>
          <a:p>
            <a:r>
              <a:rPr lang="en-IN" dirty="0"/>
              <a:t># Remove age column from filtered </a:t>
            </a:r>
            <a:r>
              <a:rPr lang="en-IN" dirty="0" err="1"/>
              <a:t>DataFrame</a:t>
            </a:r>
            <a:endParaRPr lang="en-IN" dirty="0"/>
          </a:p>
          <a:p>
            <a:r>
              <a:rPr lang="en-IN" dirty="0" err="1"/>
              <a:t>df.drop</a:t>
            </a:r>
            <a:r>
              <a:rPr lang="en-IN" dirty="0"/>
              <a:t>('Age', axis=1, </a:t>
            </a:r>
            <a:r>
              <a:rPr lang="en-IN" dirty="0" err="1"/>
              <a:t>inplace</a:t>
            </a:r>
            <a:r>
              <a:rPr lang="en-IN" dirty="0"/>
              <a:t>=True)</a:t>
            </a:r>
          </a:p>
          <a:p>
            <a:r>
              <a:rPr lang="en-IN" dirty="0"/>
              <a:t># Display data</a:t>
            </a:r>
          </a:p>
          <a:p>
            <a:r>
              <a:rPr lang="en-IN" dirty="0" err="1"/>
              <a:t>df</a:t>
            </a:r>
            <a:endParaRPr lang="en-IN" dirty="0"/>
          </a:p>
          <a:p>
            <a:endParaRPr lang="en-IN" dirty="0"/>
          </a:p>
        </p:txBody>
      </p:sp>
      <p:pic>
        <p:nvPicPr>
          <p:cNvPr id="3078" name="Picture 6" descr="Dropping column and filtering rows">
            <a:extLst>
              <a:ext uri="{FF2B5EF4-FFF2-40B4-BE49-F238E27FC236}">
                <a16:creationId xmlns:a16="http://schemas.microsoft.com/office/drawing/2014/main" id="{87FE5086-FF5F-D31A-E57F-1E8302ABE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437" y="2993542"/>
            <a:ext cx="2809875"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226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47BC-605C-6AAF-0FD8-97E2D41CBF9A}"/>
              </a:ext>
            </a:extLst>
          </p:cNvPr>
          <p:cNvSpPr>
            <a:spLocks noGrp="1"/>
          </p:cNvSpPr>
          <p:nvPr>
            <p:ph type="title"/>
          </p:nvPr>
        </p:nvSpPr>
        <p:spPr/>
        <p:txBody>
          <a:bodyPr>
            <a:normAutofit fontScale="90000"/>
          </a:bodyPr>
          <a:lstStyle/>
          <a:p>
            <a:r>
              <a:rPr lang="en-US" b="1" i="0" dirty="0">
                <a:solidFill>
                  <a:srgbClr val="273239"/>
                </a:solidFill>
                <a:effectLst/>
                <a:latin typeface="Nunito" pitchFamily="2" charset="0"/>
              </a:rPr>
              <a:t>Data Wrangling  Using Merge Operation</a:t>
            </a:r>
            <a:br>
              <a:rPr lang="en-US" b="1" i="0" dirty="0">
                <a:solidFill>
                  <a:srgbClr val="273239"/>
                </a:solidFill>
                <a:effectLst/>
                <a:latin typeface="Nunito" pitchFamily="2" charset="0"/>
              </a:rPr>
            </a:br>
            <a:endParaRPr lang="en-IN" dirty="0"/>
          </a:p>
        </p:txBody>
      </p:sp>
      <p:sp>
        <p:nvSpPr>
          <p:cNvPr id="7" name="Content Placeholder 6">
            <a:extLst>
              <a:ext uri="{FF2B5EF4-FFF2-40B4-BE49-F238E27FC236}">
                <a16:creationId xmlns:a16="http://schemas.microsoft.com/office/drawing/2014/main" id="{69D27CD1-F13A-7AE9-4C76-749C4A161918}"/>
              </a:ext>
            </a:extLst>
          </p:cNvPr>
          <p:cNvSpPr>
            <a:spLocks noGrp="1"/>
          </p:cNvSpPr>
          <p:nvPr>
            <p:ph idx="1"/>
          </p:nvPr>
        </p:nvSpPr>
        <p:spPr/>
        <p:txBody>
          <a:bodyPr>
            <a:normAutofit fontScale="92500" lnSpcReduction="10000"/>
          </a:bodyPr>
          <a:lstStyle/>
          <a:p>
            <a:pPr algn="l" fontAlgn="base"/>
            <a:r>
              <a:rPr lang="en-US" b="0" i="0" dirty="0">
                <a:solidFill>
                  <a:srgbClr val="273239"/>
                </a:solidFill>
                <a:effectLst/>
                <a:latin typeface="Nunito" pitchFamily="2" charset="0"/>
              </a:rPr>
              <a:t>Merge operation is used to merge two raw data into the desired format.</a:t>
            </a:r>
          </a:p>
          <a:p>
            <a:pPr algn="l" fontAlgn="base"/>
            <a:r>
              <a:rPr lang="en-IN" b="1" i="1" dirty="0">
                <a:solidFill>
                  <a:srgbClr val="273239"/>
                </a:solidFill>
                <a:effectLst/>
                <a:latin typeface="Nunito" pitchFamily="2" charset="0"/>
              </a:rPr>
              <a:t>Syntax: </a:t>
            </a:r>
            <a:r>
              <a:rPr lang="en-IN" b="0" i="1" dirty="0" err="1">
                <a:solidFill>
                  <a:srgbClr val="273239"/>
                </a:solidFill>
                <a:effectLst/>
                <a:latin typeface="Nunito" pitchFamily="2" charset="0"/>
              </a:rPr>
              <a:t>pd.merge</a:t>
            </a:r>
            <a:r>
              <a:rPr lang="en-IN" b="0" i="1" dirty="0">
                <a:solidFill>
                  <a:srgbClr val="273239"/>
                </a:solidFill>
                <a:effectLst/>
                <a:latin typeface="Nunito" pitchFamily="2" charset="0"/>
              </a:rPr>
              <a:t>( data_frame1,data_frame2, on=”field “) </a:t>
            </a:r>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Here the field is the name of the column which is similar in both data-frame.</a:t>
            </a:r>
          </a:p>
          <a:p>
            <a:pPr algn="l" fontAlgn="base"/>
            <a:r>
              <a:rPr lang="en-US" b="0" i="0" dirty="0">
                <a:solidFill>
                  <a:srgbClr val="273239"/>
                </a:solidFill>
                <a:effectLst/>
                <a:latin typeface="Nunito" pitchFamily="2" charset="0"/>
              </a:rPr>
              <a:t>For example: Suppose that a Teacher has two types of Data, the first type of Data consists of Details of Students and the Second type of Data Consist of Pending Fees Status which is taken from the Account Office. So The Teacher will use the merge operation here in order to merge the data and provide it meaning. So that teacher will analyze it easily and it also reduces the time and effort of the Teacher from Manual Merging.</a:t>
            </a:r>
          </a:p>
          <a:p>
            <a:endParaRPr lang="en-IN" dirty="0"/>
          </a:p>
        </p:txBody>
      </p:sp>
    </p:spTree>
    <p:extLst>
      <p:ext uri="{BB962C8B-B14F-4D97-AF65-F5344CB8AC3E}">
        <p14:creationId xmlns:p14="http://schemas.microsoft.com/office/powerpoint/2010/main" val="2138859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AF71C3-072D-B875-9E58-CDFB849F2602}"/>
              </a:ext>
            </a:extLst>
          </p:cNvPr>
          <p:cNvSpPr>
            <a:spLocks noGrp="1"/>
          </p:cNvSpPr>
          <p:nvPr>
            <p:ph idx="1"/>
          </p:nvPr>
        </p:nvSpPr>
        <p:spPr>
          <a:xfrm>
            <a:off x="596348" y="586409"/>
            <a:ext cx="10757452" cy="5590554"/>
          </a:xfrm>
        </p:spPr>
        <p:txBody>
          <a:bodyPr>
            <a:normAutofit fontScale="70000" lnSpcReduction="20000"/>
          </a:bodyPr>
          <a:lstStyle/>
          <a:p>
            <a:r>
              <a:rPr lang="en-US" b="1" i="0" dirty="0">
                <a:solidFill>
                  <a:srgbClr val="273239"/>
                </a:solidFill>
                <a:effectLst/>
                <a:latin typeface="Nunito" pitchFamily="2" charset="0"/>
              </a:rPr>
              <a:t>Creating First </a:t>
            </a:r>
            <a:r>
              <a:rPr lang="en-US" b="1" i="0" dirty="0" err="1">
                <a:solidFill>
                  <a:srgbClr val="273239"/>
                </a:solidFill>
                <a:effectLst/>
                <a:latin typeface="Nunito" pitchFamily="2" charset="0"/>
              </a:rPr>
              <a:t>Dataframe</a:t>
            </a:r>
            <a:r>
              <a:rPr lang="en-US" b="1" i="0" dirty="0">
                <a:solidFill>
                  <a:srgbClr val="273239"/>
                </a:solidFill>
                <a:effectLst/>
                <a:latin typeface="Nunito" pitchFamily="2" charset="0"/>
              </a:rPr>
              <a:t> to Perform Merge Operation using Data Wrangling:</a:t>
            </a:r>
          </a:p>
          <a:p>
            <a:r>
              <a:rPr lang="en-IN" dirty="0"/>
              <a:t># import module</a:t>
            </a:r>
          </a:p>
          <a:p>
            <a:r>
              <a:rPr lang="en-IN" dirty="0"/>
              <a:t>import pandas as pd</a:t>
            </a:r>
          </a:p>
          <a:p>
            <a:endParaRPr lang="en-IN" dirty="0"/>
          </a:p>
          <a:p>
            <a:r>
              <a:rPr lang="en-IN" dirty="0"/>
              <a:t># creating </a:t>
            </a:r>
            <a:r>
              <a:rPr lang="en-IN" dirty="0" err="1"/>
              <a:t>DataFrame</a:t>
            </a:r>
            <a:r>
              <a:rPr lang="en-IN" dirty="0"/>
              <a:t> for Student Details</a:t>
            </a:r>
          </a:p>
          <a:p>
            <a:r>
              <a:rPr lang="en-IN" dirty="0"/>
              <a:t>details = </a:t>
            </a:r>
            <a:r>
              <a:rPr lang="en-IN" dirty="0" err="1"/>
              <a:t>pd.DataFrame</a:t>
            </a:r>
            <a:r>
              <a:rPr lang="en-IN" dirty="0"/>
              <a:t>({</a:t>
            </a:r>
          </a:p>
          <a:p>
            <a:r>
              <a:rPr lang="en-IN" dirty="0"/>
              <a:t>	'ID': [101, 102, 103, 104, 105, 106,</a:t>
            </a:r>
          </a:p>
          <a:p>
            <a:r>
              <a:rPr lang="en-IN" dirty="0"/>
              <a:t>		107, 108, 109, 110],</a:t>
            </a:r>
          </a:p>
          <a:p>
            <a:r>
              <a:rPr lang="en-IN" dirty="0"/>
              <a:t>	'NAME': ['</a:t>
            </a:r>
            <a:r>
              <a:rPr lang="en-IN" dirty="0" err="1"/>
              <a:t>Jagroop</a:t>
            </a:r>
            <a:r>
              <a:rPr lang="en-IN" dirty="0"/>
              <a:t>', 'Praveen', 'Harjot',</a:t>
            </a:r>
          </a:p>
          <a:p>
            <a:r>
              <a:rPr lang="en-IN" dirty="0"/>
              <a:t>			'Pooja', 'Rahul', 'Nikita',</a:t>
            </a:r>
          </a:p>
          <a:p>
            <a:r>
              <a:rPr lang="en-IN" dirty="0"/>
              <a:t>			'Saurabh', 'Ayush', 'Dolly', "Mohit"],</a:t>
            </a:r>
          </a:p>
          <a:p>
            <a:r>
              <a:rPr lang="en-IN" dirty="0"/>
              <a:t>	'BRANCH': ['CSE', 'CSE', 'CSE', 'CSE', 'CSE',</a:t>
            </a:r>
          </a:p>
          <a:p>
            <a:r>
              <a:rPr lang="en-IN" dirty="0"/>
              <a:t>			'CSE', 'CSE', 'CSE', 'CSE', 'CSE']})</a:t>
            </a:r>
          </a:p>
          <a:p>
            <a:endParaRPr lang="en-IN" dirty="0"/>
          </a:p>
          <a:p>
            <a:r>
              <a:rPr lang="en-IN" dirty="0"/>
              <a:t># printing details</a:t>
            </a:r>
          </a:p>
          <a:p>
            <a:r>
              <a:rPr lang="en-IN" dirty="0"/>
              <a:t>print(details)</a:t>
            </a:r>
          </a:p>
          <a:p>
            <a:endParaRPr lang="en-IN" dirty="0"/>
          </a:p>
        </p:txBody>
      </p:sp>
      <p:pic>
        <p:nvPicPr>
          <p:cNvPr id="4" name="Content Placeholder 3">
            <a:extLst>
              <a:ext uri="{FF2B5EF4-FFF2-40B4-BE49-F238E27FC236}">
                <a16:creationId xmlns:a16="http://schemas.microsoft.com/office/drawing/2014/main" id="{0C931F9F-E992-DDD1-FCB3-98369D7EDFCA}"/>
              </a:ext>
            </a:extLst>
          </p:cNvPr>
          <p:cNvPicPr>
            <a:picLocks noChangeAspect="1"/>
          </p:cNvPicPr>
          <p:nvPr/>
        </p:nvPicPr>
        <p:blipFill>
          <a:blip r:embed="rId2"/>
          <a:stretch>
            <a:fillRect/>
          </a:stretch>
        </p:blipFill>
        <p:spPr>
          <a:xfrm>
            <a:off x="8363778" y="1566828"/>
            <a:ext cx="1905000" cy="1628775"/>
          </a:xfrm>
          <a:prstGeom prst="rect">
            <a:avLst/>
          </a:prstGeom>
        </p:spPr>
      </p:pic>
    </p:spTree>
    <p:extLst>
      <p:ext uri="{BB962C8B-B14F-4D97-AF65-F5344CB8AC3E}">
        <p14:creationId xmlns:p14="http://schemas.microsoft.com/office/powerpoint/2010/main" val="406079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1E9A4-3398-9727-458A-447EFF0868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7A4DFB-7936-4AE4-D50E-259F9EFA1EC2}"/>
              </a:ext>
            </a:extLst>
          </p:cNvPr>
          <p:cNvSpPr>
            <a:spLocks noGrp="1"/>
          </p:cNvSpPr>
          <p:nvPr>
            <p:ph idx="1"/>
          </p:nvPr>
        </p:nvSpPr>
        <p:spPr/>
        <p:txBody>
          <a:bodyPr/>
          <a:lstStyle/>
          <a:p>
            <a:pPr>
              <a:buNone/>
            </a:pPr>
            <a:r>
              <a:rPr lang="en-US" b="1" dirty="0"/>
              <a:t>. Import Required Libraries</a:t>
            </a:r>
          </a:p>
          <a:p>
            <a:pPr rtl="0">
              <a:buNone/>
            </a:pPr>
            <a:r>
              <a:rPr lang="en-US" dirty="0">
                <a:latin typeface="Courier New" panose="02070309020205020404" pitchFamily="49" charset="0"/>
              </a:rPr>
              <a:t>import pandas as pd</a:t>
            </a:r>
          </a:p>
          <a:p>
            <a:pPr rtl="0">
              <a:buNone/>
            </a:pPr>
            <a:r>
              <a:rPr lang="en-US" dirty="0">
                <a:latin typeface="Courier New" panose="02070309020205020404" pitchFamily="49" charset="0"/>
              </a:rPr>
              <a:t>import </a:t>
            </a:r>
            <a:r>
              <a:rPr lang="en-US" dirty="0" err="1">
                <a:latin typeface="Courier New" panose="02070309020205020404" pitchFamily="49" charset="0"/>
              </a:rPr>
              <a:t>numpy</a:t>
            </a:r>
            <a:r>
              <a:rPr lang="en-US" dirty="0">
                <a:latin typeface="Courier New" panose="02070309020205020404" pitchFamily="49" charset="0"/>
              </a:rPr>
              <a:t> as np</a:t>
            </a:r>
          </a:p>
          <a:p>
            <a:r>
              <a:rPr lang="en-IN" b="1" dirty="0"/>
              <a:t>a. Read Data from Different Formats (CSV, XLS)</a:t>
            </a:r>
          </a:p>
          <a:p>
            <a:r>
              <a:rPr lang="en-IN" b="1" dirty="0"/>
              <a:t>Read CSV file</a:t>
            </a:r>
          </a:p>
          <a:p>
            <a:r>
              <a:rPr lang="en-IN" dirty="0" err="1"/>
              <a:t>df_csv</a:t>
            </a:r>
            <a:r>
              <a:rPr lang="en-IN" dirty="0"/>
              <a:t> = </a:t>
            </a:r>
            <a:r>
              <a:rPr lang="en-IN" dirty="0" err="1"/>
              <a:t>pd.read_csv</a:t>
            </a:r>
            <a:r>
              <a:rPr lang="en-IN" dirty="0"/>
              <a:t>("data.csv")</a:t>
            </a:r>
          </a:p>
          <a:p>
            <a:r>
              <a:rPr lang="en-IN" b="1" dirty="0"/>
              <a:t>Read Excel file</a:t>
            </a:r>
          </a:p>
          <a:p>
            <a:r>
              <a:rPr lang="en-IN" dirty="0" err="1"/>
              <a:t>df_xls</a:t>
            </a:r>
            <a:r>
              <a:rPr lang="en-IN" dirty="0"/>
              <a:t> = </a:t>
            </a:r>
            <a:r>
              <a:rPr lang="en-IN" dirty="0" err="1"/>
              <a:t>pd.read_excel</a:t>
            </a:r>
            <a:r>
              <a:rPr lang="en-IN" dirty="0"/>
              <a:t>("data.xlsx")</a:t>
            </a:r>
          </a:p>
          <a:p>
            <a:endParaRPr lang="en-IN" dirty="0"/>
          </a:p>
        </p:txBody>
      </p:sp>
    </p:spTree>
    <p:extLst>
      <p:ext uri="{BB962C8B-B14F-4D97-AF65-F5344CB8AC3E}">
        <p14:creationId xmlns:p14="http://schemas.microsoft.com/office/powerpoint/2010/main" val="2894354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B0E45-22C3-5163-2D33-706C8CA92C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18B1A4-8D3A-1228-F5D9-A7AF8965452F}"/>
              </a:ext>
            </a:extLst>
          </p:cNvPr>
          <p:cNvSpPr>
            <a:spLocks noGrp="1"/>
          </p:cNvSpPr>
          <p:nvPr>
            <p:ph idx="1"/>
          </p:nvPr>
        </p:nvSpPr>
        <p:spPr/>
        <p:txBody>
          <a:bodyPr>
            <a:normAutofit/>
          </a:bodyPr>
          <a:lstStyle/>
          <a:p>
            <a:pPr marL="0" indent="0">
              <a:buNone/>
            </a:pPr>
            <a:r>
              <a:rPr lang="en-US" b="1" dirty="0"/>
              <a:t>b. Find Shape of Data</a:t>
            </a:r>
          </a:p>
          <a:p>
            <a:pPr marL="0" indent="0">
              <a:buNone/>
            </a:pPr>
            <a:r>
              <a:rPr lang="en-US" dirty="0" err="1"/>
              <a:t>df_csv.shape</a:t>
            </a:r>
            <a:endParaRPr lang="en-US" dirty="0"/>
          </a:p>
          <a:p>
            <a:pPr marL="0" indent="0">
              <a:buNone/>
            </a:pPr>
            <a:r>
              <a:rPr lang="en-US" b="1" dirty="0"/>
              <a:t>Output:</a:t>
            </a:r>
            <a:br>
              <a:rPr lang="en-US" dirty="0"/>
            </a:br>
            <a:r>
              <a:rPr lang="en-US" dirty="0"/>
              <a:t>(rows, columns)</a:t>
            </a:r>
          </a:p>
          <a:p>
            <a:pPr marL="0" indent="0">
              <a:buNone/>
            </a:pPr>
            <a:r>
              <a:rPr lang="en-US" b="1" dirty="0"/>
              <a:t>c. Find Missing Values</a:t>
            </a:r>
          </a:p>
          <a:p>
            <a:pPr marL="0" indent="0">
              <a:buNone/>
            </a:pPr>
            <a:r>
              <a:rPr lang="en-US" dirty="0" err="1"/>
              <a:t>df_csv.isnull</a:t>
            </a:r>
            <a:r>
              <a:rPr lang="en-US" dirty="0"/>
              <a:t>().sum()</a:t>
            </a:r>
          </a:p>
          <a:p>
            <a:pPr marL="0" indent="0">
              <a:buNone/>
            </a:pPr>
            <a:r>
              <a:rPr lang="en-US" dirty="0"/>
              <a:t>To check if any missing values exist:</a:t>
            </a:r>
          </a:p>
          <a:p>
            <a:r>
              <a:rPr lang="en-US" dirty="0" err="1"/>
              <a:t>df_csv.isnull</a:t>
            </a:r>
            <a:r>
              <a:rPr lang="en-US" dirty="0"/>
              <a:t>().</a:t>
            </a:r>
            <a:r>
              <a:rPr lang="en-US" dirty="0" err="1"/>
              <a:t>values.any</a:t>
            </a:r>
            <a:r>
              <a:rPr lang="en-US" dirty="0"/>
              <a:t>()</a:t>
            </a:r>
          </a:p>
          <a:p>
            <a:endParaRPr lang="en-IN" dirty="0"/>
          </a:p>
        </p:txBody>
      </p:sp>
    </p:spTree>
    <p:extLst>
      <p:ext uri="{BB962C8B-B14F-4D97-AF65-F5344CB8AC3E}">
        <p14:creationId xmlns:p14="http://schemas.microsoft.com/office/powerpoint/2010/main" val="1131855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610EA-F127-5628-073A-12AADF4932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E1436F-0BC4-4BF9-302F-0972BD2096AB}"/>
              </a:ext>
            </a:extLst>
          </p:cNvPr>
          <p:cNvSpPr>
            <a:spLocks noGrp="1"/>
          </p:cNvSpPr>
          <p:nvPr>
            <p:ph idx="1"/>
          </p:nvPr>
        </p:nvSpPr>
        <p:spPr/>
        <p:txBody>
          <a:bodyPr/>
          <a:lstStyle/>
          <a:p>
            <a:r>
              <a:rPr lang="en-US" b="1" dirty="0"/>
              <a:t>d. Find Data Type of Each Column</a:t>
            </a:r>
          </a:p>
          <a:p>
            <a:r>
              <a:rPr lang="en-US" dirty="0" err="1"/>
              <a:t>df_csv.dtypes</a:t>
            </a:r>
            <a:endParaRPr lang="en-US" dirty="0"/>
          </a:p>
          <a:p>
            <a:r>
              <a:rPr lang="en-US" b="1" dirty="0"/>
              <a:t>e. Finding Out Zero’s</a:t>
            </a:r>
          </a:p>
          <a:p>
            <a:r>
              <a:rPr lang="en-US" dirty="0"/>
              <a:t>(</a:t>
            </a:r>
            <a:r>
              <a:rPr lang="en-US" dirty="0" err="1"/>
              <a:t>df_csv</a:t>
            </a:r>
            <a:r>
              <a:rPr lang="en-US" dirty="0"/>
              <a:t> == 0).sum()</a:t>
            </a:r>
          </a:p>
          <a:p>
            <a:r>
              <a:rPr lang="en-US" dirty="0"/>
              <a:t>For numeric columns only:</a:t>
            </a:r>
          </a:p>
          <a:p>
            <a:r>
              <a:rPr lang="en-US" dirty="0"/>
              <a:t>(</a:t>
            </a:r>
            <a:r>
              <a:rPr lang="en-US" dirty="0" err="1"/>
              <a:t>df_csv.select_dtypes</a:t>
            </a:r>
            <a:r>
              <a:rPr lang="en-US" dirty="0"/>
              <a:t>(include=</a:t>
            </a:r>
            <a:r>
              <a:rPr lang="en-US" dirty="0" err="1"/>
              <a:t>np.number</a:t>
            </a:r>
            <a:r>
              <a:rPr lang="en-US" dirty="0"/>
              <a:t>) == 0).sum()</a:t>
            </a:r>
          </a:p>
          <a:p>
            <a:endParaRPr lang="en-IN" dirty="0"/>
          </a:p>
        </p:txBody>
      </p:sp>
    </p:spTree>
    <p:extLst>
      <p:ext uri="{BB962C8B-B14F-4D97-AF65-F5344CB8AC3E}">
        <p14:creationId xmlns:p14="http://schemas.microsoft.com/office/powerpoint/2010/main" val="4028131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C02D-ACB2-EB08-D5AC-F48EE521FF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AF2C0A-8A6D-DC70-1B98-879E031D1DC4}"/>
              </a:ext>
            </a:extLst>
          </p:cNvPr>
          <p:cNvSpPr>
            <a:spLocks noGrp="1"/>
          </p:cNvSpPr>
          <p:nvPr>
            <p:ph idx="1"/>
          </p:nvPr>
        </p:nvSpPr>
        <p:spPr/>
        <p:txBody>
          <a:bodyPr>
            <a:normAutofit lnSpcReduction="10000"/>
          </a:bodyPr>
          <a:lstStyle/>
          <a:p>
            <a:r>
              <a:rPr lang="en-US" b="1" dirty="0"/>
              <a:t>f. Indexing, Selecting Data &amp; Sorting</a:t>
            </a:r>
          </a:p>
          <a:p>
            <a:r>
              <a:rPr lang="en-US" b="1" dirty="0"/>
              <a:t>Select a Single Column</a:t>
            </a:r>
          </a:p>
          <a:p>
            <a:r>
              <a:rPr lang="en-US" dirty="0" err="1"/>
              <a:t>df_csv</a:t>
            </a:r>
            <a:r>
              <a:rPr lang="en-US" dirty="0"/>
              <a:t>['</a:t>
            </a:r>
            <a:r>
              <a:rPr lang="en-US" dirty="0" err="1"/>
              <a:t>Column_Name</a:t>
            </a:r>
            <a:r>
              <a:rPr lang="en-US" dirty="0"/>
              <a:t>']</a:t>
            </a:r>
          </a:p>
          <a:p>
            <a:r>
              <a:rPr lang="en-IN" b="1" dirty="0"/>
              <a:t>Select Multiple Columns</a:t>
            </a:r>
          </a:p>
          <a:p>
            <a:r>
              <a:rPr lang="en-IN" dirty="0" err="1"/>
              <a:t>df_csv</a:t>
            </a:r>
            <a:r>
              <a:rPr lang="en-IN" dirty="0"/>
              <a:t>[['Column1', 'Column2']]</a:t>
            </a:r>
          </a:p>
          <a:p>
            <a:r>
              <a:rPr lang="en-IN" b="1" dirty="0"/>
              <a:t>Select Rows using Index</a:t>
            </a:r>
          </a:p>
          <a:p>
            <a:r>
              <a:rPr lang="en-IN" dirty="0" err="1"/>
              <a:t>df_csv.iloc</a:t>
            </a:r>
            <a:r>
              <a:rPr lang="en-IN" dirty="0"/>
              <a:t>[0:5]     # first 5 rows</a:t>
            </a:r>
          </a:p>
          <a:p>
            <a:r>
              <a:rPr lang="en-IN" b="1" dirty="0"/>
              <a:t>Select Rows using Condition</a:t>
            </a:r>
          </a:p>
          <a:p>
            <a:r>
              <a:rPr lang="en-IN" dirty="0" err="1"/>
              <a:t>df_csv</a:t>
            </a:r>
            <a:r>
              <a:rPr lang="en-IN" dirty="0"/>
              <a:t>[</a:t>
            </a:r>
            <a:r>
              <a:rPr lang="en-IN" dirty="0" err="1"/>
              <a:t>df_csv</a:t>
            </a:r>
            <a:r>
              <a:rPr lang="en-IN" dirty="0"/>
              <a:t>['Age'] &gt; 20]</a:t>
            </a:r>
          </a:p>
          <a:p>
            <a:endParaRPr lang="en-IN" dirty="0"/>
          </a:p>
        </p:txBody>
      </p:sp>
    </p:spTree>
    <p:extLst>
      <p:ext uri="{BB962C8B-B14F-4D97-AF65-F5344CB8AC3E}">
        <p14:creationId xmlns:p14="http://schemas.microsoft.com/office/powerpoint/2010/main" val="3145961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255EE-31D5-3EF4-8144-DFD2DB3885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A6AC7B-4657-D977-06CE-38D092BF6466}"/>
              </a:ext>
            </a:extLst>
          </p:cNvPr>
          <p:cNvSpPr>
            <a:spLocks noGrp="1"/>
          </p:cNvSpPr>
          <p:nvPr>
            <p:ph idx="1"/>
          </p:nvPr>
        </p:nvSpPr>
        <p:spPr/>
        <p:txBody>
          <a:bodyPr>
            <a:normAutofit lnSpcReduction="10000"/>
          </a:bodyPr>
          <a:lstStyle/>
          <a:p>
            <a:r>
              <a:rPr lang="en-US" b="1" dirty="0"/>
              <a:t>Sort Data</a:t>
            </a:r>
          </a:p>
          <a:p>
            <a:r>
              <a:rPr lang="en-US" dirty="0" err="1"/>
              <a:t>df_csv.sort_values</a:t>
            </a:r>
            <a:r>
              <a:rPr lang="en-US" dirty="0"/>
              <a:t>(by='Age', ascending=True)</a:t>
            </a:r>
          </a:p>
          <a:p>
            <a:r>
              <a:rPr lang="en-US" b="1" dirty="0"/>
              <a:t>. Describe Attributes &amp; Check Data Types</a:t>
            </a:r>
          </a:p>
          <a:p>
            <a:r>
              <a:rPr lang="en-US" b="1" dirty="0"/>
              <a:t>Statistical Summary</a:t>
            </a:r>
          </a:p>
          <a:p>
            <a:r>
              <a:rPr lang="en-US" dirty="0" err="1"/>
              <a:t>df_csv.describe</a:t>
            </a:r>
            <a:r>
              <a:rPr lang="en-US" dirty="0"/>
              <a:t>()</a:t>
            </a:r>
          </a:p>
          <a:p>
            <a:r>
              <a:rPr lang="en-IN" b="1" dirty="0"/>
              <a:t>Include All Columns</a:t>
            </a:r>
          </a:p>
          <a:p>
            <a:r>
              <a:rPr lang="en-IN" dirty="0" err="1"/>
              <a:t>df_csv.describe</a:t>
            </a:r>
            <a:r>
              <a:rPr lang="en-IN" dirty="0"/>
              <a:t>(include='all')</a:t>
            </a:r>
          </a:p>
          <a:p>
            <a:r>
              <a:rPr lang="en-IN" b="1" dirty="0"/>
              <a:t>Check Data Types Again</a:t>
            </a:r>
          </a:p>
          <a:p>
            <a:r>
              <a:rPr lang="en-IN" dirty="0"/>
              <a:t>df_csv.info()</a:t>
            </a:r>
          </a:p>
          <a:p>
            <a:endParaRPr lang="en-IN" dirty="0"/>
          </a:p>
        </p:txBody>
      </p:sp>
    </p:spTree>
    <p:extLst>
      <p:ext uri="{BB962C8B-B14F-4D97-AF65-F5344CB8AC3E}">
        <p14:creationId xmlns:p14="http://schemas.microsoft.com/office/powerpoint/2010/main" val="1801088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D4DFA6-772E-B4F9-3755-EC0F872F38B3}"/>
              </a:ext>
            </a:extLst>
          </p:cNvPr>
          <p:cNvSpPr>
            <a:spLocks noGrp="1"/>
          </p:cNvSpPr>
          <p:nvPr>
            <p:ph idx="1"/>
          </p:nvPr>
        </p:nvSpPr>
        <p:spPr>
          <a:xfrm>
            <a:off x="636104" y="556591"/>
            <a:ext cx="10717696" cy="5620372"/>
          </a:xfrm>
        </p:spPr>
        <p:txBody>
          <a:bodyPr>
            <a:normAutofit fontScale="85000" lnSpcReduction="20000"/>
          </a:bodyPr>
          <a:lstStyle/>
          <a:p>
            <a:r>
              <a:rPr lang="en-IN" b="1" dirty="0"/>
              <a:t>h. Counting Unique Values, Format &amp; Data Type Conversion</a:t>
            </a:r>
          </a:p>
          <a:p>
            <a:r>
              <a:rPr lang="en-IN" b="1" dirty="0"/>
              <a:t>Count Unique Values</a:t>
            </a:r>
          </a:p>
          <a:p>
            <a:r>
              <a:rPr lang="en-IN" dirty="0" err="1"/>
              <a:t>df_csv.nunique</a:t>
            </a:r>
            <a:r>
              <a:rPr lang="en-IN" dirty="0"/>
              <a:t>()</a:t>
            </a:r>
          </a:p>
          <a:p>
            <a:r>
              <a:rPr lang="en-IN" dirty="0"/>
              <a:t>For a specific column:</a:t>
            </a:r>
          </a:p>
          <a:p>
            <a:r>
              <a:rPr lang="en-IN" dirty="0" err="1"/>
              <a:t>df_csv</a:t>
            </a:r>
            <a:r>
              <a:rPr lang="en-IN" dirty="0"/>
              <a:t>['Gender'].</a:t>
            </a:r>
            <a:r>
              <a:rPr lang="en-IN" dirty="0" err="1"/>
              <a:t>value_counts</a:t>
            </a:r>
            <a:r>
              <a:rPr lang="en-IN" dirty="0"/>
              <a:t>()</a:t>
            </a:r>
          </a:p>
          <a:p>
            <a:r>
              <a:rPr lang="en-IN" b="1" dirty="0"/>
              <a:t>heck Format of Each Column</a:t>
            </a:r>
          </a:p>
          <a:p>
            <a:r>
              <a:rPr lang="en-IN" dirty="0" err="1"/>
              <a:t>df_csv.applymap</a:t>
            </a:r>
            <a:r>
              <a:rPr lang="en-IN" dirty="0"/>
              <a:t>(type)</a:t>
            </a:r>
          </a:p>
          <a:p>
            <a:br>
              <a:rPr lang="en-IN" dirty="0"/>
            </a:br>
            <a:r>
              <a:rPr lang="en-IN" b="1" dirty="0"/>
              <a:t>Convert Variable Data Type</a:t>
            </a:r>
          </a:p>
          <a:p>
            <a:r>
              <a:rPr lang="en-IN" b="1" dirty="0"/>
              <a:t>Integer to Float</a:t>
            </a:r>
          </a:p>
          <a:p>
            <a:r>
              <a:rPr lang="en-IN" dirty="0" err="1"/>
              <a:t>df_csv</a:t>
            </a:r>
            <a:r>
              <a:rPr lang="en-IN" dirty="0"/>
              <a:t>['Marks'] = </a:t>
            </a:r>
            <a:r>
              <a:rPr lang="en-IN" dirty="0" err="1"/>
              <a:t>df_csv</a:t>
            </a:r>
            <a:r>
              <a:rPr lang="en-IN" dirty="0"/>
              <a:t>['Marks'].</a:t>
            </a:r>
            <a:r>
              <a:rPr lang="en-IN" dirty="0" err="1"/>
              <a:t>astype</a:t>
            </a:r>
            <a:r>
              <a:rPr lang="en-IN" dirty="0"/>
              <a:t>(float)</a:t>
            </a:r>
          </a:p>
          <a:p>
            <a:r>
              <a:rPr lang="en-IN" b="1" dirty="0"/>
              <a:t>Float to Integer</a:t>
            </a:r>
          </a:p>
          <a:p>
            <a:r>
              <a:rPr lang="en-IN" dirty="0" err="1"/>
              <a:t>df_csv</a:t>
            </a:r>
            <a:r>
              <a:rPr lang="en-IN" dirty="0"/>
              <a:t>['Marks'] = </a:t>
            </a:r>
            <a:r>
              <a:rPr lang="en-IN" dirty="0" err="1"/>
              <a:t>df_csv</a:t>
            </a:r>
            <a:r>
              <a:rPr lang="en-IN" dirty="0"/>
              <a:t>['Marks'].</a:t>
            </a:r>
            <a:r>
              <a:rPr lang="en-IN" dirty="0" err="1"/>
              <a:t>astype</a:t>
            </a:r>
            <a:r>
              <a:rPr lang="en-IN" dirty="0"/>
              <a:t>(int)</a:t>
            </a:r>
          </a:p>
          <a:p>
            <a:r>
              <a:rPr lang="en-IN" b="1" dirty="0"/>
              <a:t>Object to Category</a:t>
            </a:r>
          </a:p>
          <a:p>
            <a:r>
              <a:rPr lang="en-IN" dirty="0" err="1"/>
              <a:t>df_csv</a:t>
            </a:r>
            <a:r>
              <a:rPr lang="en-IN" dirty="0"/>
              <a:t>['Department'] = </a:t>
            </a:r>
            <a:r>
              <a:rPr lang="en-IN" dirty="0" err="1"/>
              <a:t>df_csv</a:t>
            </a:r>
            <a:r>
              <a:rPr lang="en-IN" dirty="0"/>
              <a:t>['Department'].</a:t>
            </a:r>
            <a:r>
              <a:rPr lang="en-IN" dirty="0" err="1"/>
              <a:t>astype</a:t>
            </a:r>
            <a:r>
              <a:rPr lang="en-IN" dirty="0"/>
              <a:t>('category')</a:t>
            </a:r>
          </a:p>
          <a:p>
            <a:endParaRPr lang="en-IN" dirty="0"/>
          </a:p>
        </p:txBody>
      </p:sp>
    </p:spTree>
    <p:extLst>
      <p:ext uri="{BB962C8B-B14F-4D97-AF65-F5344CB8AC3E}">
        <p14:creationId xmlns:p14="http://schemas.microsoft.com/office/powerpoint/2010/main" val="1424760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0628D-95AD-D5DF-CD25-468B0344CC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42E503-E2F6-83AE-4DD6-19FB98FAF068}"/>
              </a:ext>
            </a:extLst>
          </p:cNvPr>
          <p:cNvSpPr>
            <a:spLocks noGrp="1"/>
          </p:cNvSpPr>
          <p:nvPr>
            <p:ph idx="1"/>
          </p:nvPr>
        </p:nvSpPr>
        <p:spPr>
          <a:xfrm>
            <a:off x="838199" y="1825625"/>
            <a:ext cx="10989365" cy="4351338"/>
          </a:xfrm>
        </p:spPr>
        <p:txBody>
          <a:bodyPr/>
          <a:lstStyle/>
          <a:p>
            <a:r>
              <a:rPr lang="en-US" dirty="0"/>
              <a:t>Student_ID,Name,Age,Gender,Department,Marks,Attendance,Internship</a:t>
            </a:r>
            <a:endParaRPr lang="en-IN" dirty="0"/>
          </a:p>
        </p:txBody>
      </p:sp>
    </p:spTree>
    <p:extLst>
      <p:ext uri="{BB962C8B-B14F-4D97-AF65-F5344CB8AC3E}">
        <p14:creationId xmlns:p14="http://schemas.microsoft.com/office/powerpoint/2010/main" val="2662225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921</TotalTime>
  <Words>1856</Words>
  <Application>Microsoft Office PowerPoint</Application>
  <PresentationFormat>Widescreen</PresentationFormat>
  <Paragraphs>154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Courier New</vt:lpstr>
      <vt:lpstr>Nunito</vt:lpstr>
      <vt:lpstr>Office Theme</vt:lpstr>
      <vt:lpstr>Assignment 1</vt:lpstr>
      <vt:lpstr>Assignment 2</vt:lpstr>
      <vt:lpstr>PowerPoint Presentation</vt:lpstr>
      <vt:lpstr>Data Wrangling</vt:lpstr>
      <vt:lpstr>Importance Of Data Wrangling </vt:lpstr>
      <vt:lpstr>Data Wrangling in Python </vt:lpstr>
      <vt:lpstr>Data wrangling in Python deals with the below functionalities: </vt:lpstr>
      <vt:lpstr>Data exploration in Python </vt:lpstr>
      <vt:lpstr>Dealing with missing values in Python </vt:lpstr>
      <vt:lpstr>PowerPoint Presentation</vt:lpstr>
      <vt:lpstr>Data Replacing in Data Wrangling </vt:lpstr>
      <vt:lpstr>Filtering data in Data Wrangling </vt:lpstr>
      <vt:lpstr>Data Wrangling  Using Merge Operation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 M Jaybhaye</cp:lastModifiedBy>
  <cp:revision>11</cp:revision>
  <dcterms:created xsi:type="dcterms:W3CDTF">2023-07-03T04:12:42Z</dcterms:created>
  <dcterms:modified xsi:type="dcterms:W3CDTF">2026-01-06T16:56:57Z</dcterms:modified>
</cp:coreProperties>
</file>